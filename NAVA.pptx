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Chakra Petch Bold" charset="1" panose="00000800000000000000"/>
      <p:regular r:id="rId17"/>
    </p:embeddedFont>
    <p:embeddedFont>
      <p:font typeface="Chakra Petch" charset="1" panose="00000500000000000000"/>
      <p:regular r:id="rId18"/>
    </p:embeddedFont>
    <p:embeddedFont>
      <p:font typeface="Open Sauce Bold" charset="1" panose="00000800000000000000"/>
      <p:regular r:id="rId19"/>
    </p:embeddedFont>
    <p:embeddedFont>
      <p:font typeface="Open Sauce" charset="1" panose="00000500000000000000"/>
      <p:regular r:id="rId20"/>
    </p:embeddedFont>
    <p:embeddedFont>
      <p:font typeface="Canva Sans" charset="1" panose="020B0503030501040103"/>
      <p:regular r:id="rId21"/>
    </p:embeddedFont>
    <p:embeddedFont>
      <p:font typeface="Canva Sans Bold" charset="1" panose="020B08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2" Target="../media/image8.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17.jpeg" Type="http://schemas.openxmlformats.org/officeDocument/2006/relationships/image"/><Relationship Id="rId6" Target="../media/VAHY53nmXWc.mp4" Type="http://schemas.openxmlformats.org/officeDocument/2006/relationships/video"/><Relationship Id="rId7" Target="../media/VAHY53nmXWc.mp4" Type="http://schemas.microsoft.com/office/2007/relationships/media"/></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6.pn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2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jpeg" Type="http://schemas.openxmlformats.org/officeDocument/2006/relationships/image"/><Relationship Id="rId11" Target="../media/image33.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27.png" Type="http://schemas.openxmlformats.org/officeDocument/2006/relationships/image"/><Relationship Id="rId6" Target="../media/image28.jpeg" Type="http://schemas.openxmlformats.org/officeDocument/2006/relationships/image"/><Relationship Id="rId7" Target="../media/image29.jpeg" Type="http://schemas.openxmlformats.org/officeDocument/2006/relationships/image"/><Relationship Id="rId8" Target="../media/image30.jpeg" Type="http://schemas.openxmlformats.org/officeDocument/2006/relationships/image"/><Relationship Id="rId9" Target="../media/image3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 Id="rId3" Target="../media/VAFAx3PcQhI.mp4" Type="http://schemas.openxmlformats.org/officeDocument/2006/relationships/video"/><Relationship Id="rId4" Target="../media/VAFAx3PcQhI.mp4" Type="http://schemas.microsoft.com/office/2007/relationships/media"/></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7796896" y="1701832"/>
            <a:ext cx="16322408" cy="15995960"/>
          </a:xfrm>
          <a:custGeom>
            <a:avLst/>
            <a:gdLst/>
            <a:ahLst/>
            <a:cxnLst/>
            <a:rect r="r" b="b" t="t" l="l"/>
            <a:pathLst>
              <a:path h="15995960" w="16322408">
                <a:moveTo>
                  <a:pt x="0" y="0"/>
                </a:moveTo>
                <a:lnTo>
                  <a:pt x="16322408" y="0"/>
                </a:lnTo>
                <a:lnTo>
                  <a:pt x="16322408" y="15995960"/>
                </a:lnTo>
                <a:lnTo>
                  <a:pt x="0" y="159959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970416"/>
            <a:ext cx="27096405" cy="10641497"/>
          </a:xfrm>
          <a:custGeom>
            <a:avLst/>
            <a:gdLst/>
            <a:ahLst/>
            <a:cxnLst/>
            <a:rect r="r" b="b" t="t" l="l"/>
            <a:pathLst>
              <a:path h="10641497" w="27096405">
                <a:moveTo>
                  <a:pt x="0" y="0"/>
                </a:moveTo>
                <a:lnTo>
                  <a:pt x="27096405" y="0"/>
                </a:lnTo>
                <a:lnTo>
                  <a:pt x="27096405" y="10641498"/>
                </a:lnTo>
                <a:lnTo>
                  <a:pt x="0" y="10641498"/>
                </a:lnTo>
                <a:lnTo>
                  <a:pt x="0" y="0"/>
                </a:lnTo>
                <a:close/>
              </a:path>
            </a:pathLst>
          </a:custGeom>
          <a:blipFill>
            <a:blip r:embed="rId4"/>
            <a:stretch>
              <a:fillRect l="0" t="0" r="0" b="0"/>
            </a:stretch>
          </a:blipFill>
        </p:spPr>
      </p:sp>
      <p:sp>
        <p:nvSpPr>
          <p:cNvPr name="Freeform 4" id="4"/>
          <p:cNvSpPr/>
          <p:nvPr/>
        </p:nvSpPr>
        <p:spPr>
          <a:xfrm flipH="false" flipV="false" rot="0">
            <a:off x="12240088" y="5463806"/>
            <a:ext cx="3709551" cy="2652329"/>
          </a:xfrm>
          <a:custGeom>
            <a:avLst/>
            <a:gdLst/>
            <a:ahLst/>
            <a:cxnLst/>
            <a:rect r="r" b="b" t="t" l="l"/>
            <a:pathLst>
              <a:path h="2652329" w="3709551">
                <a:moveTo>
                  <a:pt x="0" y="0"/>
                </a:moveTo>
                <a:lnTo>
                  <a:pt x="3709551" y="0"/>
                </a:lnTo>
                <a:lnTo>
                  <a:pt x="3709551" y="2652328"/>
                </a:lnTo>
                <a:lnTo>
                  <a:pt x="0" y="26523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636843" y="3091178"/>
            <a:ext cx="15098250" cy="2959762"/>
          </a:xfrm>
          <a:prstGeom prst="rect">
            <a:avLst/>
          </a:prstGeom>
        </p:spPr>
        <p:txBody>
          <a:bodyPr anchor="t" rtlCol="false" tIns="0" lIns="0" bIns="0" rIns="0">
            <a:spAutoFit/>
          </a:bodyPr>
          <a:lstStyle/>
          <a:p>
            <a:pPr algn="ctr">
              <a:lnSpc>
                <a:spcPts val="24288"/>
              </a:lnSpc>
            </a:pPr>
            <a:r>
              <a:rPr lang="en-US" b="true" sz="17348" spc="-1231">
                <a:solidFill>
                  <a:srgbClr val="FFFFFF"/>
                </a:solidFill>
                <a:latin typeface="Chakra Petch Bold"/>
                <a:ea typeface="Chakra Petch Bold"/>
                <a:cs typeface="Chakra Petch Bold"/>
                <a:sym typeface="Chakra Petch Bold"/>
              </a:rPr>
              <a:t>NAVA</a:t>
            </a:r>
          </a:p>
        </p:txBody>
      </p:sp>
      <p:sp>
        <p:nvSpPr>
          <p:cNvPr name="TextBox 6" id="6"/>
          <p:cNvSpPr txBox="true"/>
          <p:nvPr/>
        </p:nvSpPr>
        <p:spPr>
          <a:xfrm rot="0">
            <a:off x="4228603" y="1916557"/>
            <a:ext cx="9914729" cy="1606967"/>
          </a:xfrm>
          <a:prstGeom prst="rect">
            <a:avLst/>
          </a:prstGeom>
        </p:spPr>
        <p:txBody>
          <a:bodyPr anchor="t" rtlCol="false" tIns="0" lIns="0" bIns="0" rIns="0">
            <a:spAutoFit/>
          </a:bodyPr>
          <a:lstStyle/>
          <a:p>
            <a:pPr algn="ctr">
              <a:lnSpc>
                <a:spcPts val="6452"/>
              </a:lnSpc>
            </a:pPr>
            <a:r>
              <a:rPr lang="en-US" sz="4608" spc="-327">
                <a:solidFill>
                  <a:srgbClr val="FFFFFF"/>
                </a:solidFill>
                <a:latin typeface="Chakra Petch"/>
                <a:ea typeface="Chakra Petch"/>
                <a:cs typeface="Chakra Petch"/>
                <a:sym typeface="Chakra Petch"/>
              </a:rPr>
              <a:t>WHERE AI MEET</a:t>
            </a:r>
            <a:r>
              <a:rPr lang="en-US" sz="4608" spc="-327">
                <a:solidFill>
                  <a:srgbClr val="FFFFFF"/>
                </a:solidFill>
                <a:latin typeface="Chakra Petch"/>
                <a:ea typeface="Chakra Petch"/>
                <a:cs typeface="Chakra Petch"/>
                <a:sym typeface="Chakra Petch"/>
              </a:rPr>
              <a:t>S SEAMLESS GOVERNANCE.</a:t>
            </a:r>
          </a:p>
        </p:txBody>
      </p:sp>
      <p:sp>
        <p:nvSpPr>
          <p:cNvPr name="TextBox 7" id="7"/>
          <p:cNvSpPr txBox="true"/>
          <p:nvPr/>
        </p:nvSpPr>
        <p:spPr>
          <a:xfrm rot="0">
            <a:off x="12240088" y="8862133"/>
            <a:ext cx="6047912" cy="1646784"/>
          </a:xfrm>
          <a:prstGeom prst="rect">
            <a:avLst/>
          </a:prstGeom>
        </p:spPr>
        <p:txBody>
          <a:bodyPr anchor="t" rtlCol="false" tIns="0" lIns="0" bIns="0" rIns="0">
            <a:spAutoFit/>
          </a:bodyPr>
          <a:lstStyle/>
          <a:p>
            <a:pPr algn="ctr">
              <a:lnSpc>
                <a:spcPts val="2682"/>
              </a:lnSpc>
            </a:pPr>
            <a:r>
              <a:rPr lang="en-US" b="true" sz="1915" spc="-51">
                <a:solidFill>
                  <a:srgbClr val="FFFFFF"/>
                </a:solidFill>
                <a:latin typeface="Open Sauce Bold"/>
                <a:ea typeface="Open Sauce Bold"/>
                <a:cs typeface="Open Sauce Bold"/>
                <a:sym typeface="Open Sauce Bold"/>
              </a:rPr>
              <a:t>PROLEM STATEMENT - 3. SIMPLIFYING COMPLEX GOVERNMENT SERVICES IN</a:t>
            </a:r>
            <a:r>
              <a:rPr lang="en-US" b="true" sz="1915" spc="-51">
                <a:solidFill>
                  <a:srgbClr val="FFFFFF"/>
                </a:solidFill>
                <a:latin typeface="Open Sauce Bold"/>
                <a:ea typeface="Open Sauce Bold"/>
                <a:cs typeface="Open Sauce Bold"/>
                <a:sym typeface="Open Sauce Bold"/>
              </a:rPr>
              <a:t>TO ONE VERIFIED, PERSONALISED ROADMAP FOR EVERY CITIZEN.</a:t>
            </a:r>
          </a:p>
          <a:p>
            <a:pPr algn="ctr">
              <a:lnSpc>
                <a:spcPts val="2682"/>
              </a:lnSpc>
            </a:pPr>
          </a:p>
          <a:p>
            <a:pPr algn="ctr">
              <a:lnSpc>
                <a:spcPts val="2682"/>
              </a:lnSpc>
            </a:pPr>
          </a:p>
        </p:txBody>
      </p:sp>
      <p:sp>
        <p:nvSpPr>
          <p:cNvPr name="TextBox 8" id="8"/>
          <p:cNvSpPr txBox="true"/>
          <p:nvPr/>
        </p:nvSpPr>
        <p:spPr>
          <a:xfrm rot="0">
            <a:off x="14576903" y="294590"/>
            <a:ext cx="3115968" cy="280670"/>
          </a:xfrm>
          <a:prstGeom prst="rect">
            <a:avLst/>
          </a:prstGeom>
        </p:spPr>
        <p:txBody>
          <a:bodyPr anchor="t" rtlCol="false" tIns="0" lIns="0" bIns="0" rIns="0">
            <a:spAutoFit/>
          </a:bodyPr>
          <a:lstStyle/>
          <a:p>
            <a:pPr algn="r">
              <a:lnSpc>
                <a:spcPts val="2380"/>
              </a:lnSpc>
              <a:spcBef>
                <a:spcPct val="0"/>
              </a:spcBef>
            </a:pPr>
            <a:r>
              <a:rPr lang="en-US" sz="1700" u="sng">
                <a:solidFill>
                  <a:srgbClr val="FFFFFF"/>
                </a:solidFill>
                <a:latin typeface="Open Sauce"/>
                <a:ea typeface="Open Sauce"/>
                <a:cs typeface="Open Sauce"/>
                <a:sym typeface="Open Sauce"/>
              </a:rPr>
              <a:t>TEAM NAME:MASALA DOSA</a:t>
            </a:r>
          </a:p>
        </p:txBody>
      </p:sp>
      <p:sp>
        <p:nvSpPr>
          <p:cNvPr name="TextBox 9" id="9"/>
          <p:cNvSpPr txBox="true"/>
          <p:nvPr/>
        </p:nvSpPr>
        <p:spPr>
          <a:xfrm rot="0">
            <a:off x="364308" y="8078034"/>
            <a:ext cx="6423217" cy="1934125"/>
          </a:xfrm>
          <a:prstGeom prst="rect">
            <a:avLst/>
          </a:prstGeom>
        </p:spPr>
        <p:txBody>
          <a:bodyPr anchor="t" rtlCol="false" tIns="0" lIns="0" bIns="0" rIns="0">
            <a:spAutoFit/>
          </a:bodyPr>
          <a:lstStyle/>
          <a:p>
            <a:pPr algn="l">
              <a:lnSpc>
                <a:spcPts val="3119"/>
              </a:lnSpc>
            </a:pPr>
            <a:r>
              <a:rPr lang="en-US" sz="2228" u="sng">
                <a:solidFill>
                  <a:srgbClr val="FFFFFF"/>
                </a:solidFill>
                <a:latin typeface="Open Sauce"/>
                <a:ea typeface="Open Sauce"/>
                <a:cs typeface="Open Sauce"/>
                <a:sym typeface="Open Sauce"/>
              </a:rPr>
              <a:t>TEAM MEMBERS:</a:t>
            </a:r>
          </a:p>
          <a:p>
            <a:pPr algn="l">
              <a:lnSpc>
                <a:spcPts val="3119"/>
              </a:lnSpc>
            </a:pPr>
            <a:r>
              <a:rPr lang="en-US" sz="2228" u="sng">
                <a:solidFill>
                  <a:srgbClr val="FFFFFF"/>
                </a:solidFill>
                <a:latin typeface="Open Sauce"/>
                <a:ea typeface="Open Sauce"/>
                <a:cs typeface="Open Sauce"/>
                <a:sym typeface="Open Sauce"/>
              </a:rPr>
              <a:t>NESARA HARISH</a:t>
            </a:r>
          </a:p>
          <a:p>
            <a:pPr algn="l">
              <a:lnSpc>
                <a:spcPts val="3119"/>
              </a:lnSpc>
            </a:pPr>
            <a:r>
              <a:rPr lang="en-US" sz="2228" u="sng">
                <a:solidFill>
                  <a:srgbClr val="FFFFFF"/>
                </a:solidFill>
                <a:latin typeface="Open Sauce"/>
                <a:ea typeface="Open Sauce"/>
                <a:cs typeface="Open Sauce"/>
                <a:sym typeface="Open Sauce"/>
              </a:rPr>
              <a:t>DEEPAK H D</a:t>
            </a:r>
          </a:p>
          <a:p>
            <a:pPr algn="l">
              <a:lnSpc>
                <a:spcPts val="3119"/>
              </a:lnSpc>
            </a:pPr>
            <a:r>
              <a:rPr lang="en-US" sz="2228" u="sng">
                <a:solidFill>
                  <a:srgbClr val="FFFFFF"/>
                </a:solidFill>
                <a:latin typeface="Open Sauce"/>
                <a:ea typeface="Open Sauce"/>
                <a:cs typeface="Open Sauce"/>
                <a:sym typeface="Open Sauce"/>
              </a:rPr>
              <a:t>NAYANA AILI</a:t>
            </a:r>
          </a:p>
          <a:p>
            <a:pPr algn="l">
              <a:lnSpc>
                <a:spcPts val="3119"/>
              </a:lnSpc>
              <a:spcBef>
                <a:spcPct val="0"/>
              </a:spcBef>
            </a:pPr>
            <a:r>
              <a:rPr lang="en-US" sz="2228" u="sng">
                <a:solidFill>
                  <a:srgbClr val="FFFFFF"/>
                </a:solidFill>
                <a:latin typeface="Open Sauce"/>
                <a:ea typeface="Open Sauce"/>
                <a:cs typeface="Open Sauce"/>
                <a:sym typeface="Open Sauce"/>
              </a:rPr>
              <a:t>NISCHAY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1230392" y="-3765537"/>
            <a:ext cx="12057815" cy="14479909"/>
          </a:xfrm>
          <a:custGeom>
            <a:avLst/>
            <a:gdLst/>
            <a:ahLst/>
            <a:cxnLst/>
            <a:rect r="r" b="b" t="t" l="l"/>
            <a:pathLst>
              <a:path h="14479909" w="12057815">
                <a:moveTo>
                  <a:pt x="0" y="0"/>
                </a:moveTo>
                <a:lnTo>
                  <a:pt x="12057816" y="0"/>
                </a:lnTo>
                <a:lnTo>
                  <a:pt x="12057816" y="14479909"/>
                </a:lnTo>
                <a:lnTo>
                  <a:pt x="0" y="14479909"/>
                </a:lnTo>
                <a:lnTo>
                  <a:pt x="0" y="0"/>
                </a:lnTo>
                <a:close/>
              </a:path>
            </a:pathLst>
          </a:custGeom>
          <a:blipFill>
            <a:blip r:embed="rId2"/>
            <a:stretch>
              <a:fillRect l="0" t="0" r="0" b="0"/>
            </a:stretch>
          </a:blipFill>
        </p:spPr>
      </p:sp>
      <p:grpSp>
        <p:nvGrpSpPr>
          <p:cNvPr name="Group 3" id="3"/>
          <p:cNvGrpSpPr/>
          <p:nvPr/>
        </p:nvGrpSpPr>
        <p:grpSpPr>
          <a:xfrm rot="0">
            <a:off x="11988310" y="-266493"/>
            <a:ext cx="5587257" cy="10248293"/>
            <a:chOff x="0" y="0"/>
            <a:chExt cx="861421" cy="1580041"/>
          </a:xfrm>
        </p:grpSpPr>
        <p:sp>
          <p:nvSpPr>
            <p:cNvPr name="Freeform 4" id="4"/>
            <p:cNvSpPr/>
            <p:nvPr/>
          </p:nvSpPr>
          <p:spPr>
            <a:xfrm flipH="false" flipV="false" rot="0">
              <a:off x="0" y="0"/>
              <a:ext cx="861421" cy="1580041"/>
            </a:xfrm>
            <a:custGeom>
              <a:avLst/>
              <a:gdLst/>
              <a:ahLst/>
              <a:cxnLst/>
              <a:rect r="r" b="b" t="t" l="l"/>
              <a:pathLst>
                <a:path h="1580041" w="861421">
                  <a:moveTo>
                    <a:pt x="861421" y="0"/>
                  </a:moveTo>
                  <a:lnTo>
                    <a:pt x="861421" y="1465741"/>
                  </a:lnTo>
                  <a:lnTo>
                    <a:pt x="430710" y="1580041"/>
                  </a:lnTo>
                  <a:lnTo>
                    <a:pt x="0" y="1465741"/>
                  </a:lnTo>
                  <a:lnTo>
                    <a:pt x="0" y="0"/>
                  </a:lnTo>
                  <a:lnTo>
                    <a:pt x="861421" y="0"/>
                  </a:lnTo>
                  <a:close/>
                </a:path>
              </a:pathLst>
            </a:custGeom>
            <a:blipFill>
              <a:blip r:embed="rId3"/>
              <a:stretch>
                <a:fillRect l="-3421" t="0" r="-3421" b="0"/>
              </a:stretch>
            </a:blipFill>
            <a:ln w="85725" cap="sq">
              <a:solidFill>
                <a:srgbClr val="1800AD"/>
              </a:solidFill>
              <a:prstDash val="solid"/>
              <a:miter/>
            </a:ln>
          </p:spPr>
        </p:sp>
      </p:grpSp>
      <p:sp>
        <p:nvSpPr>
          <p:cNvPr name="Freeform 5" id="5"/>
          <p:cNvSpPr/>
          <p:nvPr/>
        </p:nvSpPr>
        <p:spPr>
          <a:xfrm flipH="false" flipV="false" rot="0">
            <a:off x="-6592942" y="3783460"/>
            <a:ext cx="12057815" cy="14479909"/>
          </a:xfrm>
          <a:custGeom>
            <a:avLst/>
            <a:gdLst/>
            <a:ahLst/>
            <a:cxnLst/>
            <a:rect r="r" b="b" t="t" l="l"/>
            <a:pathLst>
              <a:path h="14479909" w="12057815">
                <a:moveTo>
                  <a:pt x="0" y="0"/>
                </a:moveTo>
                <a:lnTo>
                  <a:pt x="12057815" y="0"/>
                </a:lnTo>
                <a:lnTo>
                  <a:pt x="12057815" y="14479909"/>
                </a:lnTo>
                <a:lnTo>
                  <a:pt x="0" y="14479909"/>
                </a:lnTo>
                <a:lnTo>
                  <a:pt x="0" y="0"/>
                </a:lnTo>
                <a:close/>
              </a:path>
            </a:pathLst>
          </a:custGeom>
          <a:blipFill>
            <a:blip r:embed="rId2"/>
            <a:stretch>
              <a:fillRect l="0" t="0" r="0" b="0"/>
            </a:stretch>
          </a:blipFill>
        </p:spPr>
      </p:sp>
      <p:sp>
        <p:nvSpPr>
          <p:cNvPr name="TextBox 6" id="6"/>
          <p:cNvSpPr txBox="true"/>
          <p:nvPr/>
        </p:nvSpPr>
        <p:spPr>
          <a:xfrm rot="0">
            <a:off x="393482" y="4968391"/>
            <a:ext cx="10330960" cy="1766465"/>
          </a:xfrm>
          <a:prstGeom prst="rect">
            <a:avLst/>
          </a:prstGeom>
        </p:spPr>
        <p:txBody>
          <a:bodyPr anchor="t" rtlCol="false" tIns="0" lIns="0" bIns="0" rIns="0">
            <a:spAutoFit/>
          </a:bodyPr>
          <a:lstStyle/>
          <a:p>
            <a:pPr algn="l">
              <a:lnSpc>
                <a:spcPts val="14460"/>
              </a:lnSpc>
            </a:pPr>
            <a:r>
              <a:rPr lang="en-US" b="true" sz="10329" spc="-733">
                <a:solidFill>
                  <a:srgbClr val="FFFFFF"/>
                </a:solidFill>
                <a:latin typeface="Chakra Petch Bold"/>
                <a:ea typeface="Chakra Petch Bold"/>
                <a:cs typeface="Chakra Petch Bold"/>
                <a:sym typeface="Chakra Petch Bold"/>
              </a:rPr>
              <a:t>NAVA?</a:t>
            </a:r>
          </a:p>
        </p:txBody>
      </p:sp>
      <p:sp>
        <p:nvSpPr>
          <p:cNvPr name="TextBox 7" id="7"/>
          <p:cNvSpPr txBox="true"/>
          <p:nvPr/>
        </p:nvSpPr>
        <p:spPr>
          <a:xfrm rot="0">
            <a:off x="1028700" y="4454041"/>
            <a:ext cx="2844607" cy="1009838"/>
          </a:xfrm>
          <a:prstGeom prst="rect">
            <a:avLst/>
          </a:prstGeom>
        </p:spPr>
        <p:txBody>
          <a:bodyPr anchor="t" rtlCol="false" tIns="0" lIns="0" bIns="0" rIns="0">
            <a:spAutoFit/>
          </a:bodyPr>
          <a:lstStyle/>
          <a:p>
            <a:pPr algn="l">
              <a:lnSpc>
                <a:spcPts val="8352"/>
              </a:lnSpc>
            </a:pPr>
            <a:r>
              <a:rPr lang="en-US" sz="5965" spc="-423">
                <a:solidFill>
                  <a:srgbClr val="FFFFFF"/>
                </a:solidFill>
                <a:latin typeface="Chakra Petch"/>
                <a:ea typeface="Chakra Petch"/>
                <a:cs typeface="Chakra Petch"/>
                <a:sym typeface="Chakra Petch"/>
              </a:rPr>
              <a:t>WHAT IS</a:t>
            </a:r>
          </a:p>
        </p:txBody>
      </p:sp>
      <p:grpSp>
        <p:nvGrpSpPr>
          <p:cNvPr name="Group 8" id="8"/>
          <p:cNvGrpSpPr/>
          <p:nvPr/>
        </p:nvGrpSpPr>
        <p:grpSpPr>
          <a:xfrm rot="0">
            <a:off x="1292660" y="796047"/>
            <a:ext cx="3128803" cy="1214770"/>
            <a:chOff x="0" y="0"/>
            <a:chExt cx="824047" cy="319940"/>
          </a:xfrm>
        </p:grpSpPr>
        <p:sp>
          <p:nvSpPr>
            <p:cNvPr name="Freeform 9" id="9"/>
            <p:cNvSpPr/>
            <p:nvPr/>
          </p:nvSpPr>
          <p:spPr>
            <a:xfrm flipH="false" flipV="false" rot="0">
              <a:off x="0" y="0"/>
              <a:ext cx="824047" cy="319940"/>
            </a:xfrm>
            <a:custGeom>
              <a:avLst/>
              <a:gdLst/>
              <a:ahLst/>
              <a:cxnLst/>
              <a:rect r="r" b="b" t="t" l="l"/>
              <a:pathLst>
                <a:path h="319940" w="824047">
                  <a:moveTo>
                    <a:pt x="126195" y="0"/>
                  </a:moveTo>
                  <a:lnTo>
                    <a:pt x="697852" y="0"/>
                  </a:lnTo>
                  <a:cubicBezTo>
                    <a:pt x="767548" y="0"/>
                    <a:pt x="824047" y="56499"/>
                    <a:pt x="824047" y="126195"/>
                  </a:cubicBezTo>
                  <a:lnTo>
                    <a:pt x="824047" y="193745"/>
                  </a:lnTo>
                  <a:cubicBezTo>
                    <a:pt x="824047" y="263440"/>
                    <a:pt x="767548" y="319940"/>
                    <a:pt x="697852" y="319940"/>
                  </a:cubicBezTo>
                  <a:lnTo>
                    <a:pt x="126195" y="319940"/>
                  </a:lnTo>
                  <a:cubicBezTo>
                    <a:pt x="56499" y="319940"/>
                    <a:pt x="0" y="263440"/>
                    <a:pt x="0" y="193745"/>
                  </a:cubicBezTo>
                  <a:lnTo>
                    <a:pt x="0" y="126195"/>
                  </a:lnTo>
                  <a:cubicBezTo>
                    <a:pt x="0" y="56499"/>
                    <a:pt x="56499" y="0"/>
                    <a:pt x="126195"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10" id="10"/>
            <p:cNvSpPr txBox="true"/>
            <p:nvPr/>
          </p:nvSpPr>
          <p:spPr>
            <a:xfrm>
              <a:off x="0" y="-38100"/>
              <a:ext cx="824047" cy="35804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594488" y="2355799"/>
            <a:ext cx="2676620" cy="1082680"/>
            <a:chOff x="0" y="0"/>
            <a:chExt cx="704953" cy="285150"/>
          </a:xfrm>
        </p:grpSpPr>
        <p:sp>
          <p:nvSpPr>
            <p:cNvPr name="Freeform 12" id="12"/>
            <p:cNvSpPr/>
            <p:nvPr/>
          </p:nvSpPr>
          <p:spPr>
            <a:xfrm flipH="false" flipV="false" rot="0">
              <a:off x="0" y="0"/>
              <a:ext cx="704953" cy="285150"/>
            </a:xfrm>
            <a:custGeom>
              <a:avLst/>
              <a:gdLst/>
              <a:ahLst/>
              <a:cxnLst/>
              <a:rect r="r" b="b" t="t" l="l"/>
              <a:pathLst>
                <a:path h="285150" w="704953">
                  <a:moveTo>
                    <a:pt x="142575" y="0"/>
                  </a:moveTo>
                  <a:lnTo>
                    <a:pt x="562378" y="0"/>
                  </a:lnTo>
                  <a:cubicBezTo>
                    <a:pt x="641120" y="0"/>
                    <a:pt x="704953" y="63833"/>
                    <a:pt x="704953" y="142575"/>
                  </a:cubicBezTo>
                  <a:lnTo>
                    <a:pt x="704953" y="142575"/>
                  </a:lnTo>
                  <a:cubicBezTo>
                    <a:pt x="704953" y="180388"/>
                    <a:pt x="689932" y="216653"/>
                    <a:pt x="663194" y="243391"/>
                  </a:cubicBezTo>
                  <a:cubicBezTo>
                    <a:pt x="636456" y="270129"/>
                    <a:pt x="600192" y="285150"/>
                    <a:pt x="562378" y="285150"/>
                  </a:cubicBezTo>
                  <a:lnTo>
                    <a:pt x="142575" y="285150"/>
                  </a:lnTo>
                  <a:cubicBezTo>
                    <a:pt x="63833" y="285150"/>
                    <a:pt x="0" y="221317"/>
                    <a:pt x="0" y="142575"/>
                  </a:cubicBezTo>
                  <a:lnTo>
                    <a:pt x="0" y="142575"/>
                  </a:lnTo>
                  <a:cubicBezTo>
                    <a:pt x="0" y="63833"/>
                    <a:pt x="63833" y="0"/>
                    <a:pt x="142575"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13" id="13"/>
            <p:cNvSpPr txBox="true"/>
            <p:nvPr/>
          </p:nvSpPr>
          <p:spPr>
            <a:xfrm>
              <a:off x="0" y="-38100"/>
              <a:ext cx="704953" cy="32325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971525" y="777547"/>
            <a:ext cx="4379276" cy="1251771"/>
            <a:chOff x="0" y="0"/>
            <a:chExt cx="1153390" cy="329685"/>
          </a:xfrm>
        </p:grpSpPr>
        <p:sp>
          <p:nvSpPr>
            <p:cNvPr name="Freeform 15" id="15"/>
            <p:cNvSpPr/>
            <p:nvPr/>
          </p:nvSpPr>
          <p:spPr>
            <a:xfrm flipH="false" flipV="false" rot="0">
              <a:off x="0" y="0"/>
              <a:ext cx="1153390" cy="329685"/>
            </a:xfrm>
            <a:custGeom>
              <a:avLst/>
              <a:gdLst/>
              <a:ahLst/>
              <a:cxnLst/>
              <a:rect r="r" b="b" t="t" l="l"/>
              <a:pathLst>
                <a:path h="329685" w="1153390">
                  <a:moveTo>
                    <a:pt x="90161" y="0"/>
                  </a:moveTo>
                  <a:lnTo>
                    <a:pt x="1063229" y="0"/>
                  </a:lnTo>
                  <a:cubicBezTo>
                    <a:pt x="1113023" y="0"/>
                    <a:pt x="1153390" y="40366"/>
                    <a:pt x="1153390" y="90161"/>
                  </a:cubicBezTo>
                  <a:lnTo>
                    <a:pt x="1153390" y="239524"/>
                  </a:lnTo>
                  <a:cubicBezTo>
                    <a:pt x="1153390" y="289318"/>
                    <a:pt x="1113023" y="329685"/>
                    <a:pt x="1063229" y="329685"/>
                  </a:cubicBezTo>
                  <a:lnTo>
                    <a:pt x="90161" y="329685"/>
                  </a:lnTo>
                  <a:cubicBezTo>
                    <a:pt x="40366" y="329685"/>
                    <a:pt x="0" y="289318"/>
                    <a:pt x="0" y="239524"/>
                  </a:cubicBezTo>
                  <a:lnTo>
                    <a:pt x="0" y="90161"/>
                  </a:lnTo>
                  <a:cubicBezTo>
                    <a:pt x="0" y="40366"/>
                    <a:pt x="40366" y="0"/>
                    <a:pt x="90161"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16" id="16"/>
            <p:cNvSpPr txBox="true"/>
            <p:nvPr/>
          </p:nvSpPr>
          <p:spPr>
            <a:xfrm>
              <a:off x="0" y="-38100"/>
              <a:ext cx="1153390" cy="367785"/>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5464873" y="2384737"/>
            <a:ext cx="3316605" cy="1197246"/>
            <a:chOff x="0" y="0"/>
            <a:chExt cx="873509" cy="315324"/>
          </a:xfrm>
        </p:grpSpPr>
        <p:sp>
          <p:nvSpPr>
            <p:cNvPr name="Freeform 18" id="18"/>
            <p:cNvSpPr/>
            <p:nvPr/>
          </p:nvSpPr>
          <p:spPr>
            <a:xfrm flipH="false" flipV="false" rot="0">
              <a:off x="0" y="0"/>
              <a:ext cx="873509" cy="315324"/>
            </a:xfrm>
            <a:custGeom>
              <a:avLst/>
              <a:gdLst/>
              <a:ahLst/>
              <a:cxnLst/>
              <a:rect r="r" b="b" t="t" l="l"/>
              <a:pathLst>
                <a:path h="315324" w="873509">
                  <a:moveTo>
                    <a:pt x="119049" y="0"/>
                  </a:moveTo>
                  <a:lnTo>
                    <a:pt x="754460" y="0"/>
                  </a:lnTo>
                  <a:cubicBezTo>
                    <a:pt x="786034" y="0"/>
                    <a:pt x="816315" y="12543"/>
                    <a:pt x="838640" y="34869"/>
                  </a:cubicBezTo>
                  <a:cubicBezTo>
                    <a:pt x="860966" y="57195"/>
                    <a:pt x="873509" y="87475"/>
                    <a:pt x="873509" y="119049"/>
                  </a:cubicBezTo>
                  <a:lnTo>
                    <a:pt x="873509" y="196275"/>
                  </a:lnTo>
                  <a:cubicBezTo>
                    <a:pt x="873509" y="227849"/>
                    <a:pt x="860966" y="258130"/>
                    <a:pt x="838640" y="280456"/>
                  </a:cubicBezTo>
                  <a:cubicBezTo>
                    <a:pt x="816315" y="302782"/>
                    <a:pt x="786034" y="315324"/>
                    <a:pt x="754460" y="315324"/>
                  </a:cubicBezTo>
                  <a:lnTo>
                    <a:pt x="119049" y="315324"/>
                  </a:lnTo>
                  <a:cubicBezTo>
                    <a:pt x="87475" y="315324"/>
                    <a:pt x="57195" y="302782"/>
                    <a:pt x="34869" y="280456"/>
                  </a:cubicBezTo>
                  <a:cubicBezTo>
                    <a:pt x="12543" y="258130"/>
                    <a:pt x="0" y="227849"/>
                    <a:pt x="0" y="196275"/>
                  </a:cubicBezTo>
                  <a:lnTo>
                    <a:pt x="0" y="119049"/>
                  </a:lnTo>
                  <a:cubicBezTo>
                    <a:pt x="0" y="87475"/>
                    <a:pt x="12543" y="57195"/>
                    <a:pt x="34869" y="34869"/>
                  </a:cubicBezTo>
                  <a:cubicBezTo>
                    <a:pt x="57195" y="12543"/>
                    <a:pt x="87475" y="0"/>
                    <a:pt x="119049"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19" id="19"/>
            <p:cNvSpPr txBox="true"/>
            <p:nvPr/>
          </p:nvSpPr>
          <p:spPr>
            <a:xfrm>
              <a:off x="0" y="-38100"/>
              <a:ext cx="873509" cy="353424"/>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5464873" y="5628993"/>
            <a:ext cx="3885928" cy="867361"/>
            <a:chOff x="0" y="0"/>
            <a:chExt cx="1023493" cy="228550"/>
          </a:xfrm>
        </p:grpSpPr>
        <p:sp>
          <p:nvSpPr>
            <p:cNvPr name="Freeform 21" id="21"/>
            <p:cNvSpPr/>
            <p:nvPr/>
          </p:nvSpPr>
          <p:spPr>
            <a:xfrm flipH="false" flipV="false" rot="0">
              <a:off x="0" y="0"/>
              <a:ext cx="1023493" cy="228550"/>
            </a:xfrm>
            <a:custGeom>
              <a:avLst/>
              <a:gdLst/>
              <a:ahLst/>
              <a:cxnLst/>
              <a:rect r="r" b="b" t="t" l="l"/>
              <a:pathLst>
                <a:path h="228550" w="1023493">
                  <a:moveTo>
                    <a:pt x="1023493" y="0"/>
                  </a:moveTo>
                  <a:lnTo>
                    <a:pt x="1023493" y="228550"/>
                  </a:lnTo>
                  <a:lnTo>
                    <a:pt x="0" y="22855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22" id="22"/>
            <p:cNvSpPr txBox="true"/>
            <p:nvPr/>
          </p:nvSpPr>
          <p:spPr>
            <a:xfrm>
              <a:off x="0" y="-38100"/>
              <a:ext cx="1023493" cy="266650"/>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292660" y="1180345"/>
            <a:ext cx="3128803" cy="533400"/>
          </a:xfrm>
          <a:prstGeom prst="rect">
            <a:avLst/>
          </a:prstGeom>
        </p:spPr>
        <p:txBody>
          <a:bodyPr anchor="t" rtlCol="false" tIns="0" lIns="0" bIns="0" rIns="0">
            <a:spAutoFit/>
          </a:bodyPr>
          <a:lstStyle/>
          <a:p>
            <a:pPr algn="ctr">
              <a:lnSpc>
                <a:spcPts val="2160"/>
              </a:lnSpc>
            </a:pPr>
            <a:r>
              <a:rPr lang="en-US" b="true" sz="1800" spc="-48">
                <a:solidFill>
                  <a:srgbClr val="FFFFFF"/>
                </a:solidFill>
                <a:latin typeface="Open Sauce Bold"/>
                <a:ea typeface="Open Sauce Bold"/>
                <a:cs typeface="Open Sauce Bold"/>
                <a:sym typeface="Open Sauce Bold"/>
              </a:rPr>
              <a:t>UNDERSTANDS</a:t>
            </a:r>
            <a:r>
              <a:rPr lang="en-US" b="true" sz="1800" spc="-48">
                <a:solidFill>
                  <a:srgbClr val="FFFFFF"/>
                </a:solidFill>
                <a:latin typeface="Open Sauce Bold"/>
                <a:ea typeface="Open Sauce Bold"/>
                <a:cs typeface="Open Sauce Bold"/>
                <a:sym typeface="Open Sauce Bold"/>
              </a:rPr>
              <a:t> CITIZEN NEEDS</a:t>
            </a:r>
          </a:p>
        </p:txBody>
      </p:sp>
      <p:sp>
        <p:nvSpPr>
          <p:cNvPr name="TextBox 24" id="24"/>
          <p:cNvSpPr txBox="true"/>
          <p:nvPr/>
        </p:nvSpPr>
        <p:spPr>
          <a:xfrm rot="0">
            <a:off x="1670225" y="2763789"/>
            <a:ext cx="2600883" cy="266700"/>
          </a:xfrm>
          <a:prstGeom prst="rect">
            <a:avLst/>
          </a:prstGeom>
        </p:spPr>
        <p:txBody>
          <a:bodyPr anchor="t" rtlCol="false" tIns="0" lIns="0" bIns="0" rIns="0">
            <a:spAutoFit/>
          </a:bodyPr>
          <a:lstStyle/>
          <a:p>
            <a:pPr algn="ctr">
              <a:lnSpc>
                <a:spcPts val="2160"/>
              </a:lnSpc>
            </a:pPr>
            <a:r>
              <a:rPr lang="en-US" b="true" sz="1800" spc="-48">
                <a:solidFill>
                  <a:srgbClr val="FFFFFF"/>
                </a:solidFill>
                <a:latin typeface="Open Sauce Bold"/>
                <a:ea typeface="Open Sauce Bold"/>
                <a:cs typeface="Open Sauce Bold"/>
                <a:sym typeface="Open Sauce Bold"/>
              </a:rPr>
              <a:t>ADAPTS</a:t>
            </a:r>
            <a:r>
              <a:rPr lang="en-US" b="true" sz="1800" spc="-48">
                <a:solidFill>
                  <a:srgbClr val="FFFFFF"/>
                </a:solidFill>
                <a:latin typeface="Open Sauce Bold"/>
                <a:ea typeface="Open Sauce Bold"/>
                <a:cs typeface="Open Sauce Bold"/>
                <a:sym typeface="Open Sauce Bold"/>
              </a:rPr>
              <a:t> TO CHANGES</a:t>
            </a:r>
          </a:p>
        </p:txBody>
      </p:sp>
      <p:sp>
        <p:nvSpPr>
          <p:cNvPr name="TextBox 25" id="25"/>
          <p:cNvSpPr txBox="true"/>
          <p:nvPr/>
        </p:nvSpPr>
        <p:spPr>
          <a:xfrm rot="0">
            <a:off x="5180211" y="1180345"/>
            <a:ext cx="3885928" cy="266700"/>
          </a:xfrm>
          <a:prstGeom prst="rect">
            <a:avLst/>
          </a:prstGeom>
        </p:spPr>
        <p:txBody>
          <a:bodyPr anchor="t" rtlCol="false" tIns="0" lIns="0" bIns="0" rIns="0">
            <a:spAutoFit/>
          </a:bodyPr>
          <a:lstStyle/>
          <a:p>
            <a:pPr algn="ctr">
              <a:lnSpc>
                <a:spcPts val="2160"/>
              </a:lnSpc>
            </a:pPr>
            <a:r>
              <a:rPr lang="en-US" b="true" sz="1800" spc="-48">
                <a:solidFill>
                  <a:srgbClr val="FFFFFF"/>
                </a:solidFill>
                <a:latin typeface="Open Sauce Bold"/>
                <a:ea typeface="Open Sauce Bold"/>
                <a:cs typeface="Open Sauce Bold"/>
                <a:sym typeface="Open Sauce Bold"/>
              </a:rPr>
              <a:t>VERIFIES GOVERNMENT SERVICES</a:t>
            </a:r>
          </a:p>
        </p:txBody>
      </p:sp>
      <p:sp>
        <p:nvSpPr>
          <p:cNvPr name="TextBox 26" id="26"/>
          <p:cNvSpPr txBox="true"/>
          <p:nvPr/>
        </p:nvSpPr>
        <p:spPr>
          <a:xfrm rot="0">
            <a:off x="5464873" y="2716660"/>
            <a:ext cx="3316605" cy="533400"/>
          </a:xfrm>
          <a:prstGeom prst="rect">
            <a:avLst/>
          </a:prstGeom>
        </p:spPr>
        <p:txBody>
          <a:bodyPr anchor="t" rtlCol="false" tIns="0" lIns="0" bIns="0" rIns="0">
            <a:spAutoFit/>
          </a:bodyPr>
          <a:lstStyle/>
          <a:p>
            <a:pPr algn="ctr">
              <a:lnSpc>
                <a:spcPts val="2160"/>
              </a:lnSpc>
            </a:pPr>
            <a:r>
              <a:rPr lang="en-US" b="true" sz="1800" spc="-48">
                <a:solidFill>
                  <a:srgbClr val="FFFFFF"/>
                </a:solidFill>
                <a:latin typeface="Open Sauce Bold"/>
                <a:ea typeface="Open Sauce Bold"/>
                <a:cs typeface="Open Sauce Bold"/>
                <a:sym typeface="Open Sauce Bold"/>
              </a:rPr>
              <a:t>MAPS SERVICE</a:t>
            </a:r>
            <a:r>
              <a:rPr lang="en-US" b="true" sz="1800" spc="-48">
                <a:solidFill>
                  <a:srgbClr val="FFFFFF"/>
                </a:solidFill>
                <a:latin typeface="Open Sauce Bold"/>
                <a:ea typeface="Open Sauce Bold"/>
                <a:cs typeface="Open Sauce Bold"/>
                <a:sym typeface="Open Sauce Bold"/>
              </a:rPr>
              <a:t> DEPENDENCIES</a:t>
            </a:r>
          </a:p>
        </p:txBody>
      </p:sp>
      <p:sp>
        <p:nvSpPr>
          <p:cNvPr name="TextBox 27" id="27"/>
          <p:cNvSpPr txBox="true"/>
          <p:nvPr/>
        </p:nvSpPr>
        <p:spPr>
          <a:xfrm rot="0">
            <a:off x="0" y="6982129"/>
            <a:ext cx="9452601" cy="2807023"/>
          </a:xfrm>
          <a:prstGeom prst="rect">
            <a:avLst/>
          </a:prstGeom>
        </p:spPr>
        <p:txBody>
          <a:bodyPr anchor="t" rtlCol="false" tIns="0" lIns="0" bIns="0" rIns="0">
            <a:spAutoFit/>
          </a:bodyPr>
          <a:lstStyle/>
          <a:p>
            <a:pPr algn="ctr">
              <a:lnSpc>
                <a:spcPts val="3211"/>
              </a:lnSpc>
              <a:spcBef>
                <a:spcPct val="0"/>
              </a:spcBef>
            </a:pPr>
            <a:r>
              <a:rPr lang="en-US" sz="2294">
                <a:solidFill>
                  <a:srgbClr val="FFFFFF"/>
                </a:solidFill>
                <a:latin typeface="Canva Sans"/>
                <a:ea typeface="Canva Sans"/>
                <a:cs typeface="Canva Sans"/>
                <a:sym typeface="Canva Sans"/>
              </a:rPr>
              <a:t>NAVA (Navigation Assistant for Verified Access) is an AI-powered government service navigator that helps citizens find the right government services and converts their needs into verified, personalised, step-by-step action plans. It identifies service dependencies, handles changing circumstances, and guides citizens through complex government procedures without inventing requirements.</a:t>
            </a:r>
          </a:p>
        </p:txBody>
      </p:sp>
    </p:spTree>
  </p:cSld>
  <p:clrMapOvr>
    <a:masterClrMapping/>
  </p:clrMapOvr>
  <p:transition spd="fast">
    <p:cover dir="rd"/>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9027307">
            <a:off x="9395166" y="-4445466"/>
            <a:ext cx="10686924" cy="7036771"/>
          </a:xfrm>
          <a:custGeom>
            <a:avLst/>
            <a:gdLst/>
            <a:ahLst/>
            <a:cxnLst/>
            <a:rect r="r" b="b" t="t" l="l"/>
            <a:pathLst>
              <a:path h="7036771" w="10686924">
                <a:moveTo>
                  <a:pt x="0" y="0"/>
                </a:moveTo>
                <a:lnTo>
                  <a:pt x="10686924" y="0"/>
                </a:lnTo>
                <a:lnTo>
                  <a:pt x="10686924" y="7036771"/>
                </a:lnTo>
                <a:lnTo>
                  <a:pt x="0" y="7036771"/>
                </a:lnTo>
                <a:lnTo>
                  <a:pt x="0" y="0"/>
                </a:lnTo>
                <a:close/>
              </a:path>
            </a:pathLst>
          </a:custGeom>
          <a:blipFill>
            <a:blip r:embed="rId2"/>
            <a:stretch>
              <a:fillRect l="-1006" t="0" r="-1006" b="0"/>
            </a:stretch>
          </a:blipFill>
        </p:spPr>
      </p:sp>
      <p:sp>
        <p:nvSpPr>
          <p:cNvPr name="TextBox 3" id="3"/>
          <p:cNvSpPr txBox="true"/>
          <p:nvPr/>
        </p:nvSpPr>
        <p:spPr>
          <a:xfrm rot="0">
            <a:off x="66970" y="2023318"/>
            <a:ext cx="4080505" cy="3913675"/>
          </a:xfrm>
          <a:prstGeom prst="rect">
            <a:avLst/>
          </a:prstGeom>
        </p:spPr>
        <p:txBody>
          <a:bodyPr anchor="t" rtlCol="false" tIns="0" lIns="0" bIns="0" rIns="0">
            <a:spAutoFit/>
          </a:bodyPr>
          <a:lstStyle/>
          <a:p>
            <a:pPr algn="l">
              <a:lnSpc>
                <a:spcPts val="7564"/>
              </a:lnSpc>
            </a:pPr>
            <a:r>
              <a:rPr lang="en-US" b="true" sz="8405" spc="-596">
                <a:solidFill>
                  <a:srgbClr val="FFFFFF"/>
                </a:solidFill>
                <a:latin typeface="Chakra Petch Bold"/>
                <a:ea typeface="Chakra Petch Bold"/>
                <a:cs typeface="Chakra Petch Bold"/>
                <a:sym typeface="Chakra Petch Bold"/>
              </a:rPr>
              <a:t>HOW NAVA</a:t>
            </a:r>
            <a:r>
              <a:rPr lang="en-US" b="true" sz="8405" spc="-596">
                <a:solidFill>
                  <a:srgbClr val="FFFFFF"/>
                </a:solidFill>
                <a:latin typeface="Chakra Petch Bold"/>
                <a:ea typeface="Chakra Petch Bold"/>
                <a:cs typeface="Chakra Petch Bold"/>
                <a:sym typeface="Chakra Petch Bold"/>
              </a:rPr>
              <a:t> WORKS</a:t>
            </a:r>
          </a:p>
          <a:p>
            <a:pPr algn="l">
              <a:lnSpc>
                <a:spcPts val="7564"/>
              </a:lnSpc>
            </a:pPr>
          </a:p>
        </p:txBody>
      </p:sp>
      <p:grpSp>
        <p:nvGrpSpPr>
          <p:cNvPr name="Group 4" id="4"/>
          <p:cNvGrpSpPr/>
          <p:nvPr/>
        </p:nvGrpSpPr>
        <p:grpSpPr>
          <a:xfrm rot="0">
            <a:off x="5326224" y="1158302"/>
            <a:ext cx="3885928" cy="867361"/>
            <a:chOff x="0" y="0"/>
            <a:chExt cx="1023493" cy="228550"/>
          </a:xfrm>
        </p:grpSpPr>
        <p:sp>
          <p:nvSpPr>
            <p:cNvPr name="Freeform 5" id="5"/>
            <p:cNvSpPr/>
            <p:nvPr/>
          </p:nvSpPr>
          <p:spPr>
            <a:xfrm flipH="false" flipV="false" rot="0">
              <a:off x="0" y="0"/>
              <a:ext cx="1023493" cy="228550"/>
            </a:xfrm>
            <a:custGeom>
              <a:avLst/>
              <a:gdLst/>
              <a:ahLst/>
              <a:cxnLst/>
              <a:rect r="r" b="b" t="t" l="l"/>
              <a:pathLst>
                <a:path h="228550" w="1023493">
                  <a:moveTo>
                    <a:pt x="1023493" y="0"/>
                  </a:moveTo>
                  <a:lnTo>
                    <a:pt x="1023493" y="228550"/>
                  </a:lnTo>
                  <a:lnTo>
                    <a:pt x="0" y="22855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6" id="6"/>
            <p:cNvSpPr txBox="true"/>
            <p:nvPr/>
          </p:nvSpPr>
          <p:spPr>
            <a:xfrm>
              <a:off x="0" y="-38100"/>
              <a:ext cx="1023493" cy="26665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3450840">
            <a:off x="-4925163" y="6800992"/>
            <a:ext cx="10686924" cy="7036771"/>
          </a:xfrm>
          <a:custGeom>
            <a:avLst/>
            <a:gdLst/>
            <a:ahLst/>
            <a:cxnLst/>
            <a:rect r="r" b="b" t="t" l="l"/>
            <a:pathLst>
              <a:path h="7036771" w="10686924">
                <a:moveTo>
                  <a:pt x="0" y="0"/>
                </a:moveTo>
                <a:lnTo>
                  <a:pt x="10686924" y="0"/>
                </a:lnTo>
                <a:lnTo>
                  <a:pt x="10686924" y="7036771"/>
                </a:lnTo>
                <a:lnTo>
                  <a:pt x="0" y="7036771"/>
                </a:lnTo>
                <a:lnTo>
                  <a:pt x="0" y="0"/>
                </a:lnTo>
                <a:close/>
              </a:path>
            </a:pathLst>
          </a:custGeom>
          <a:blipFill>
            <a:blip r:embed="rId2"/>
            <a:stretch>
              <a:fillRect l="-1006" t="0" r="-1006" b="0"/>
            </a:stretch>
          </a:blipFill>
        </p:spPr>
      </p:sp>
      <p:grpSp>
        <p:nvGrpSpPr>
          <p:cNvPr name="Group 8" id="8"/>
          <p:cNvGrpSpPr/>
          <p:nvPr/>
        </p:nvGrpSpPr>
        <p:grpSpPr>
          <a:xfrm rot="0">
            <a:off x="3998514" y="1216063"/>
            <a:ext cx="3519847" cy="3523774"/>
            <a:chOff x="0" y="0"/>
            <a:chExt cx="965120" cy="966197"/>
          </a:xfrm>
        </p:grpSpPr>
        <p:sp>
          <p:nvSpPr>
            <p:cNvPr name="Freeform 9" id="9"/>
            <p:cNvSpPr/>
            <p:nvPr/>
          </p:nvSpPr>
          <p:spPr>
            <a:xfrm flipH="false" flipV="false" rot="0">
              <a:off x="0" y="0"/>
              <a:ext cx="965120" cy="966197"/>
            </a:xfrm>
            <a:custGeom>
              <a:avLst/>
              <a:gdLst/>
              <a:ahLst/>
              <a:cxnLst/>
              <a:rect r="r" b="b" t="t" l="l"/>
              <a:pathLst>
                <a:path h="966197" w="965120">
                  <a:moveTo>
                    <a:pt x="112175" y="0"/>
                  </a:moveTo>
                  <a:lnTo>
                    <a:pt x="852946" y="0"/>
                  </a:lnTo>
                  <a:cubicBezTo>
                    <a:pt x="882696" y="0"/>
                    <a:pt x="911228" y="11818"/>
                    <a:pt x="932265" y="32855"/>
                  </a:cubicBezTo>
                  <a:cubicBezTo>
                    <a:pt x="953302" y="53892"/>
                    <a:pt x="965120" y="82424"/>
                    <a:pt x="965120" y="112175"/>
                  </a:cubicBezTo>
                  <a:lnTo>
                    <a:pt x="965120" y="854022"/>
                  </a:lnTo>
                  <a:cubicBezTo>
                    <a:pt x="965120" y="883773"/>
                    <a:pt x="953302" y="912305"/>
                    <a:pt x="932265" y="933342"/>
                  </a:cubicBezTo>
                  <a:cubicBezTo>
                    <a:pt x="911228" y="954379"/>
                    <a:pt x="882696" y="966197"/>
                    <a:pt x="852946" y="966197"/>
                  </a:cubicBezTo>
                  <a:lnTo>
                    <a:pt x="112175" y="966197"/>
                  </a:lnTo>
                  <a:cubicBezTo>
                    <a:pt x="82424" y="966197"/>
                    <a:pt x="53892" y="954379"/>
                    <a:pt x="32855" y="933342"/>
                  </a:cubicBezTo>
                  <a:cubicBezTo>
                    <a:pt x="11818" y="912305"/>
                    <a:pt x="0" y="883773"/>
                    <a:pt x="0" y="854022"/>
                  </a:cubicBezTo>
                  <a:lnTo>
                    <a:pt x="0" y="112175"/>
                  </a:lnTo>
                  <a:cubicBezTo>
                    <a:pt x="0" y="82424"/>
                    <a:pt x="11818" y="53892"/>
                    <a:pt x="32855" y="32855"/>
                  </a:cubicBezTo>
                  <a:cubicBezTo>
                    <a:pt x="53892" y="11818"/>
                    <a:pt x="82424" y="0"/>
                    <a:pt x="112175"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10" id="10"/>
            <p:cNvSpPr txBox="true"/>
            <p:nvPr/>
          </p:nvSpPr>
          <p:spPr>
            <a:xfrm>
              <a:off x="0" y="-38100"/>
              <a:ext cx="965120" cy="100429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4029391" y="5492312"/>
            <a:ext cx="3576855" cy="3475219"/>
            <a:chOff x="0" y="0"/>
            <a:chExt cx="980752" cy="952884"/>
          </a:xfrm>
        </p:grpSpPr>
        <p:sp>
          <p:nvSpPr>
            <p:cNvPr name="Freeform 12" id="12"/>
            <p:cNvSpPr/>
            <p:nvPr/>
          </p:nvSpPr>
          <p:spPr>
            <a:xfrm flipH="false" flipV="false" rot="0">
              <a:off x="0" y="0"/>
              <a:ext cx="980752" cy="952884"/>
            </a:xfrm>
            <a:custGeom>
              <a:avLst/>
              <a:gdLst/>
              <a:ahLst/>
              <a:cxnLst/>
              <a:rect r="r" b="b" t="t" l="l"/>
              <a:pathLst>
                <a:path h="952884" w="980752">
                  <a:moveTo>
                    <a:pt x="110387" y="0"/>
                  </a:moveTo>
                  <a:lnTo>
                    <a:pt x="870365" y="0"/>
                  </a:lnTo>
                  <a:cubicBezTo>
                    <a:pt x="899641" y="0"/>
                    <a:pt x="927719" y="11630"/>
                    <a:pt x="948420" y="32332"/>
                  </a:cubicBezTo>
                  <a:cubicBezTo>
                    <a:pt x="969122" y="53033"/>
                    <a:pt x="980752" y="81110"/>
                    <a:pt x="980752" y="110387"/>
                  </a:cubicBezTo>
                  <a:lnTo>
                    <a:pt x="980752" y="842497"/>
                  </a:lnTo>
                  <a:cubicBezTo>
                    <a:pt x="980752" y="903462"/>
                    <a:pt x="931330" y="952884"/>
                    <a:pt x="870365" y="952884"/>
                  </a:cubicBezTo>
                  <a:lnTo>
                    <a:pt x="110387" y="952884"/>
                  </a:lnTo>
                  <a:cubicBezTo>
                    <a:pt x="81110" y="952884"/>
                    <a:pt x="53033" y="941254"/>
                    <a:pt x="32332" y="920552"/>
                  </a:cubicBezTo>
                  <a:cubicBezTo>
                    <a:pt x="11630" y="899851"/>
                    <a:pt x="0" y="871773"/>
                    <a:pt x="0" y="842497"/>
                  </a:cubicBezTo>
                  <a:lnTo>
                    <a:pt x="0" y="110387"/>
                  </a:lnTo>
                  <a:cubicBezTo>
                    <a:pt x="0" y="81110"/>
                    <a:pt x="11630" y="53033"/>
                    <a:pt x="32332" y="32332"/>
                  </a:cubicBezTo>
                  <a:cubicBezTo>
                    <a:pt x="53033" y="11630"/>
                    <a:pt x="81110" y="0"/>
                    <a:pt x="110387"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13" id="13"/>
            <p:cNvSpPr txBox="true"/>
            <p:nvPr/>
          </p:nvSpPr>
          <p:spPr>
            <a:xfrm>
              <a:off x="0" y="-38100"/>
              <a:ext cx="980752" cy="990984"/>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8511122" y="6634956"/>
            <a:ext cx="3628015" cy="3339812"/>
            <a:chOff x="0" y="0"/>
            <a:chExt cx="994779" cy="915756"/>
          </a:xfrm>
        </p:grpSpPr>
        <p:sp>
          <p:nvSpPr>
            <p:cNvPr name="Freeform 15" id="15"/>
            <p:cNvSpPr/>
            <p:nvPr/>
          </p:nvSpPr>
          <p:spPr>
            <a:xfrm flipH="false" flipV="false" rot="0">
              <a:off x="0" y="0"/>
              <a:ext cx="994779" cy="915756"/>
            </a:xfrm>
            <a:custGeom>
              <a:avLst/>
              <a:gdLst/>
              <a:ahLst/>
              <a:cxnLst/>
              <a:rect r="r" b="b" t="t" l="l"/>
              <a:pathLst>
                <a:path h="915756" w="994779">
                  <a:moveTo>
                    <a:pt x="108830" y="0"/>
                  </a:moveTo>
                  <a:lnTo>
                    <a:pt x="885949" y="0"/>
                  </a:lnTo>
                  <a:cubicBezTo>
                    <a:pt x="946054" y="0"/>
                    <a:pt x="994779" y="48725"/>
                    <a:pt x="994779" y="108830"/>
                  </a:cubicBezTo>
                  <a:lnTo>
                    <a:pt x="994779" y="806926"/>
                  </a:lnTo>
                  <a:cubicBezTo>
                    <a:pt x="994779" y="867031"/>
                    <a:pt x="946054" y="915756"/>
                    <a:pt x="885949" y="915756"/>
                  </a:cubicBezTo>
                  <a:lnTo>
                    <a:pt x="108830" y="915756"/>
                  </a:lnTo>
                  <a:cubicBezTo>
                    <a:pt x="48725" y="915756"/>
                    <a:pt x="0" y="867031"/>
                    <a:pt x="0" y="806926"/>
                  </a:cubicBezTo>
                  <a:lnTo>
                    <a:pt x="0" y="108830"/>
                  </a:lnTo>
                  <a:cubicBezTo>
                    <a:pt x="0" y="48725"/>
                    <a:pt x="48725" y="0"/>
                    <a:pt x="108830"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16" id="16"/>
            <p:cNvSpPr txBox="true"/>
            <p:nvPr/>
          </p:nvSpPr>
          <p:spPr>
            <a:xfrm>
              <a:off x="0" y="-38100"/>
              <a:ext cx="994779" cy="953856"/>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2950201" y="5443003"/>
            <a:ext cx="3576855" cy="3849109"/>
            <a:chOff x="0" y="0"/>
            <a:chExt cx="980752" cy="1055402"/>
          </a:xfrm>
        </p:grpSpPr>
        <p:sp>
          <p:nvSpPr>
            <p:cNvPr name="Freeform 18" id="18"/>
            <p:cNvSpPr/>
            <p:nvPr/>
          </p:nvSpPr>
          <p:spPr>
            <a:xfrm flipH="false" flipV="false" rot="0">
              <a:off x="0" y="0"/>
              <a:ext cx="980752" cy="1055402"/>
            </a:xfrm>
            <a:custGeom>
              <a:avLst/>
              <a:gdLst/>
              <a:ahLst/>
              <a:cxnLst/>
              <a:rect r="r" b="b" t="t" l="l"/>
              <a:pathLst>
                <a:path h="1055402" w="980752">
                  <a:moveTo>
                    <a:pt x="110387" y="0"/>
                  </a:moveTo>
                  <a:lnTo>
                    <a:pt x="870365" y="0"/>
                  </a:lnTo>
                  <a:cubicBezTo>
                    <a:pt x="899641" y="0"/>
                    <a:pt x="927719" y="11630"/>
                    <a:pt x="948420" y="32332"/>
                  </a:cubicBezTo>
                  <a:cubicBezTo>
                    <a:pt x="969122" y="53033"/>
                    <a:pt x="980752" y="81110"/>
                    <a:pt x="980752" y="110387"/>
                  </a:cubicBezTo>
                  <a:lnTo>
                    <a:pt x="980752" y="945015"/>
                  </a:lnTo>
                  <a:cubicBezTo>
                    <a:pt x="980752" y="1005980"/>
                    <a:pt x="931330" y="1055402"/>
                    <a:pt x="870365" y="1055402"/>
                  </a:cubicBezTo>
                  <a:lnTo>
                    <a:pt x="110387" y="1055402"/>
                  </a:lnTo>
                  <a:cubicBezTo>
                    <a:pt x="81110" y="1055402"/>
                    <a:pt x="53033" y="1043772"/>
                    <a:pt x="32332" y="1023071"/>
                  </a:cubicBezTo>
                  <a:cubicBezTo>
                    <a:pt x="11630" y="1002369"/>
                    <a:pt x="0" y="974292"/>
                    <a:pt x="0" y="945015"/>
                  </a:cubicBezTo>
                  <a:lnTo>
                    <a:pt x="0" y="110387"/>
                  </a:lnTo>
                  <a:cubicBezTo>
                    <a:pt x="0" y="81110"/>
                    <a:pt x="11630" y="53033"/>
                    <a:pt x="32332" y="32332"/>
                  </a:cubicBezTo>
                  <a:cubicBezTo>
                    <a:pt x="53033" y="11630"/>
                    <a:pt x="81110" y="0"/>
                    <a:pt x="110387"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19" id="19"/>
            <p:cNvSpPr txBox="true"/>
            <p:nvPr/>
          </p:nvSpPr>
          <p:spPr>
            <a:xfrm>
              <a:off x="0" y="-38100"/>
              <a:ext cx="980752" cy="1093502"/>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3820521" y="1573103"/>
            <a:ext cx="850704" cy="900203"/>
            <a:chOff x="0" y="0"/>
            <a:chExt cx="224054" cy="237090"/>
          </a:xfrm>
        </p:grpSpPr>
        <p:sp>
          <p:nvSpPr>
            <p:cNvPr name="Freeform 21" id="21"/>
            <p:cNvSpPr/>
            <p:nvPr/>
          </p:nvSpPr>
          <p:spPr>
            <a:xfrm flipH="false" flipV="false" rot="0">
              <a:off x="0" y="0"/>
              <a:ext cx="224054" cy="237090"/>
            </a:xfrm>
            <a:custGeom>
              <a:avLst/>
              <a:gdLst/>
              <a:ahLst/>
              <a:cxnLst/>
              <a:rect r="r" b="b" t="t" l="l"/>
              <a:pathLst>
                <a:path h="237090" w="224054">
                  <a:moveTo>
                    <a:pt x="112027" y="0"/>
                  </a:moveTo>
                  <a:lnTo>
                    <a:pt x="112027" y="0"/>
                  </a:lnTo>
                  <a:cubicBezTo>
                    <a:pt x="141738" y="0"/>
                    <a:pt x="170233" y="11803"/>
                    <a:pt x="191242" y="32812"/>
                  </a:cubicBezTo>
                  <a:cubicBezTo>
                    <a:pt x="212251" y="53821"/>
                    <a:pt x="224054" y="82316"/>
                    <a:pt x="224054" y="112027"/>
                  </a:cubicBezTo>
                  <a:lnTo>
                    <a:pt x="224054" y="125064"/>
                  </a:lnTo>
                  <a:cubicBezTo>
                    <a:pt x="224054" y="154775"/>
                    <a:pt x="212251" y="183269"/>
                    <a:pt x="191242" y="204279"/>
                  </a:cubicBezTo>
                  <a:cubicBezTo>
                    <a:pt x="170233" y="225288"/>
                    <a:pt x="141738" y="237090"/>
                    <a:pt x="112027" y="237090"/>
                  </a:cubicBezTo>
                  <a:lnTo>
                    <a:pt x="112027" y="237090"/>
                  </a:lnTo>
                  <a:cubicBezTo>
                    <a:pt x="82316" y="237090"/>
                    <a:pt x="53821" y="225288"/>
                    <a:pt x="32812" y="204279"/>
                  </a:cubicBezTo>
                  <a:cubicBezTo>
                    <a:pt x="11803" y="183269"/>
                    <a:pt x="0" y="154775"/>
                    <a:pt x="0" y="125064"/>
                  </a:cubicBezTo>
                  <a:lnTo>
                    <a:pt x="0" y="112027"/>
                  </a:lnTo>
                  <a:cubicBezTo>
                    <a:pt x="0" y="82316"/>
                    <a:pt x="11803" y="53821"/>
                    <a:pt x="32812" y="32812"/>
                  </a:cubicBezTo>
                  <a:cubicBezTo>
                    <a:pt x="53821" y="11803"/>
                    <a:pt x="82316" y="0"/>
                    <a:pt x="112027" y="0"/>
                  </a:cubicBezTo>
                  <a:close/>
                </a:path>
              </a:pathLst>
            </a:custGeom>
            <a:solidFill>
              <a:srgbClr val="1800AD"/>
            </a:solidFill>
            <a:ln w="28575" cap="rnd">
              <a:solidFill>
                <a:srgbClr val="1800AD"/>
              </a:solidFill>
              <a:prstDash val="solid"/>
              <a:round/>
            </a:ln>
          </p:spPr>
        </p:sp>
        <p:sp>
          <p:nvSpPr>
            <p:cNvPr name="TextBox 22" id="22"/>
            <p:cNvSpPr txBox="true"/>
            <p:nvPr/>
          </p:nvSpPr>
          <p:spPr>
            <a:xfrm>
              <a:off x="0" y="-38100"/>
              <a:ext cx="224054" cy="275190"/>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8696633" y="6728926"/>
            <a:ext cx="827225" cy="925043"/>
            <a:chOff x="0" y="0"/>
            <a:chExt cx="217870" cy="243633"/>
          </a:xfrm>
        </p:grpSpPr>
        <p:sp>
          <p:nvSpPr>
            <p:cNvPr name="Freeform 24" id="24"/>
            <p:cNvSpPr/>
            <p:nvPr/>
          </p:nvSpPr>
          <p:spPr>
            <a:xfrm flipH="false" flipV="false" rot="0">
              <a:off x="0" y="0"/>
              <a:ext cx="217870" cy="243633"/>
            </a:xfrm>
            <a:custGeom>
              <a:avLst/>
              <a:gdLst/>
              <a:ahLst/>
              <a:cxnLst/>
              <a:rect r="r" b="b" t="t" l="l"/>
              <a:pathLst>
                <a:path h="243633" w="217870">
                  <a:moveTo>
                    <a:pt x="108935" y="0"/>
                  </a:moveTo>
                  <a:lnTo>
                    <a:pt x="108935" y="0"/>
                  </a:lnTo>
                  <a:cubicBezTo>
                    <a:pt x="137826" y="0"/>
                    <a:pt x="165534" y="11477"/>
                    <a:pt x="185964" y="31906"/>
                  </a:cubicBezTo>
                  <a:cubicBezTo>
                    <a:pt x="206393" y="52336"/>
                    <a:pt x="217870" y="80044"/>
                    <a:pt x="217870" y="108935"/>
                  </a:cubicBezTo>
                  <a:lnTo>
                    <a:pt x="217870" y="134698"/>
                  </a:lnTo>
                  <a:cubicBezTo>
                    <a:pt x="217870" y="163589"/>
                    <a:pt x="206393" y="191297"/>
                    <a:pt x="185964" y="211726"/>
                  </a:cubicBezTo>
                  <a:cubicBezTo>
                    <a:pt x="165534" y="232156"/>
                    <a:pt x="137826" y="243633"/>
                    <a:pt x="108935" y="243633"/>
                  </a:cubicBezTo>
                  <a:lnTo>
                    <a:pt x="108935" y="243633"/>
                  </a:lnTo>
                  <a:cubicBezTo>
                    <a:pt x="80044" y="243633"/>
                    <a:pt x="52336" y="232156"/>
                    <a:pt x="31906" y="211726"/>
                  </a:cubicBezTo>
                  <a:cubicBezTo>
                    <a:pt x="11477" y="191297"/>
                    <a:pt x="0" y="163589"/>
                    <a:pt x="0" y="134698"/>
                  </a:cubicBezTo>
                  <a:lnTo>
                    <a:pt x="0" y="108935"/>
                  </a:lnTo>
                  <a:cubicBezTo>
                    <a:pt x="0" y="80044"/>
                    <a:pt x="11477" y="52336"/>
                    <a:pt x="31906" y="31906"/>
                  </a:cubicBezTo>
                  <a:cubicBezTo>
                    <a:pt x="52336" y="11477"/>
                    <a:pt x="80044" y="0"/>
                    <a:pt x="108935" y="0"/>
                  </a:cubicBezTo>
                  <a:close/>
                </a:path>
              </a:pathLst>
            </a:custGeom>
            <a:solidFill>
              <a:srgbClr val="1800AD"/>
            </a:solidFill>
            <a:ln w="28575" cap="rnd">
              <a:solidFill>
                <a:srgbClr val="1800AD"/>
              </a:solidFill>
              <a:prstDash val="solid"/>
              <a:round/>
            </a:ln>
          </p:spPr>
        </p:sp>
        <p:sp>
          <p:nvSpPr>
            <p:cNvPr name="TextBox 25" id="25"/>
            <p:cNvSpPr txBox="true"/>
            <p:nvPr/>
          </p:nvSpPr>
          <p:spPr>
            <a:xfrm>
              <a:off x="0" y="-38100"/>
              <a:ext cx="217870" cy="281733"/>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14026491" y="5633010"/>
            <a:ext cx="712137" cy="749607"/>
            <a:chOff x="0" y="0"/>
            <a:chExt cx="187559" cy="197427"/>
          </a:xfrm>
        </p:grpSpPr>
        <p:sp>
          <p:nvSpPr>
            <p:cNvPr name="Freeform 27" id="27"/>
            <p:cNvSpPr/>
            <p:nvPr/>
          </p:nvSpPr>
          <p:spPr>
            <a:xfrm flipH="false" flipV="false" rot="0">
              <a:off x="0" y="0"/>
              <a:ext cx="187559" cy="197427"/>
            </a:xfrm>
            <a:custGeom>
              <a:avLst/>
              <a:gdLst/>
              <a:ahLst/>
              <a:cxnLst/>
              <a:rect r="r" b="b" t="t" l="l"/>
              <a:pathLst>
                <a:path h="197427" w="187559">
                  <a:moveTo>
                    <a:pt x="93779" y="0"/>
                  </a:moveTo>
                  <a:lnTo>
                    <a:pt x="93779" y="0"/>
                  </a:lnTo>
                  <a:cubicBezTo>
                    <a:pt x="145572" y="0"/>
                    <a:pt x="187559" y="41986"/>
                    <a:pt x="187559" y="93779"/>
                  </a:cubicBezTo>
                  <a:lnTo>
                    <a:pt x="187559" y="103648"/>
                  </a:lnTo>
                  <a:cubicBezTo>
                    <a:pt x="187559" y="128520"/>
                    <a:pt x="177678" y="152373"/>
                    <a:pt x="160091" y="169960"/>
                  </a:cubicBezTo>
                  <a:cubicBezTo>
                    <a:pt x="142504" y="187547"/>
                    <a:pt x="118651" y="197427"/>
                    <a:pt x="93779" y="197427"/>
                  </a:cubicBezTo>
                  <a:lnTo>
                    <a:pt x="93779" y="197427"/>
                  </a:lnTo>
                  <a:cubicBezTo>
                    <a:pt x="68908" y="197427"/>
                    <a:pt x="45054" y="187547"/>
                    <a:pt x="27467" y="169960"/>
                  </a:cubicBezTo>
                  <a:cubicBezTo>
                    <a:pt x="9880" y="152373"/>
                    <a:pt x="0" y="128520"/>
                    <a:pt x="0" y="103648"/>
                  </a:cubicBezTo>
                  <a:lnTo>
                    <a:pt x="0" y="93779"/>
                  </a:lnTo>
                  <a:cubicBezTo>
                    <a:pt x="0" y="68908"/>
                    <a:pt x="9880" y="45054"/>
                    <a:pt x="27467" y="27467"/>
                  </a:cubicBezTo>
                  <a:cubicBezTo>
                    <a:pt x="45054" y="9880"/>
                    <a:pt x="68908" y="0"/>
                    <a:pt x="93779" y="0"/>
                  </a:cubicBezTo>
                  <a:close/>
                </a:path>
              </a:pathLst>
            </a:custGeom>
            <a:solidFill>
              <a:srgbClr val="1800AD"/>
            </a:solidFill>
            <a:ln w="28575" cap="rnd">
              <a:solidFill>
                <a:srgbClr val="1800AD"/>
              </a:solidFill>
              <a:prstDash val="solid"/>
              <a:round/>
            </a:ln>
          </p:spPr>
        </p:sp>
        <p:sp>
          <p:nvSpPr>
            <p:cNvPr name="TextBox 28" id="28"/>
            <p:cNvSpPr txBox="true"/>
            <p:nvPr/>
          </p:nvSpPr>
          <p:spPr>
            <a:xfrm>
              <a:off x="0" y="-38100"/>
              <a:ext cx="187559" cy="235527"/>
            </a:xfrm>
            <a:prstGeom prst="rect">
              <a:avLst/>
            </a:prstGeom>
          </p:spPr>
          <p:txBody>
            <a:bodyPr anchor="ctr" rtlCol="false" tIns="50800" lIns="50800" bIns="50800" rIns="50800"/>
            <a:lstStyle/>
            <a:p>
              <a:pPr algn="ctr">
                <a:lnSpc>
                  <a:spcPts val="2659"/>
                </a:lnSpc>
                <a:spcBef>
                  <a:spcPct val="0"/>
                </a:spcBef>
              </a:pPr>
            </a:p>
          </p:txBody>
        </p:sp>
      </p:grpSp>
      <p:sp>
        <p:nvSpPr>
          <p:cNvPr name="Freeform 29" id="29"/>
          <p:cNvSpPr/>
          <p:nvPr/>
        </p:nvSpPr>
        <p:spPr>
          <a:xfrm flipH="false" flipV="false" rot="0">
            <a:off x="5361340" y="6375180"/>
            <a:ext cx="1001482" cy="992378"/>
          </a:xfrm>
          <a:custGeom>
            <a:avLst/>
            <a:gdLst/>
            <a:ahLst/>
            <a:cxnLst/>
            <a:rect r="r" b="b" t="t" l="l"/>
            <a:pathLst>
              <a:path h="992378" w="1001482">
                <a:moveTo>
                  <a:pt x="0" y="0"/>
                </a:moveTo>
                <a:lnTo>
                  <a:pt x="1001482" y="0"/>
                </a:lnTo>
                <a:lnTo>
                  <a:pt x="1001482" y="992378"/>
                </a:lnTo>
                <a:lnTo>
                  <a:pt x="0" y="9923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0" id="30"/>
          <p:cNvSpPr/>
          <p:nvPr/>
        </p:nvSpPr>
        <p:spPr>
          <a:xfrm flipH="false" flipV="false" rot="0">
            <a:off x="9817384" y="7087385"/>
            <a:ext cx="1335779" cy="1335779"/>
          </a:xfrm>
          <a:custGeom>
            <a:avLst/>
            <a:gdLst/>
            <a:ahLst/>
            <a:cxnLst/>
            <a:rect r="r" b="b" t="t" l="l"/>
            <a:pathLst>
              <a:path h="1335779" w="1335779">
                <a:moveTo>
                  <a:pt x="0" y="0"/>
                </a:moveTo>
                <a:lnTo>
                  <a:pt x="1335779" y="0"/>
                </a:lnTo>
                <a:lnTo>
                  <a:pt x="1335779" y="1335779"/>
                </a:lnTo>
                <a:lnTo>
                  <a:pt x="0" y="13357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1" id="31"/>
          <p:cNvSpPr/>
          <p:nvPr/>
        </p:nvSpPr>
        <p:spPr>
          <a:xfrm flipH="false" flipV="false" rot="0">
            <a:off x="4737901" y="2025663"/>
            <a:ext cx="1246879" cy="1201538"/>
          </a:xfrm>
          <a:custGeom>
            <a:avLst/>
            <a:gdLst/>
            <a:ahLst/>
            <a:cxnLst/>
            <a:rect r="r" b="b" t="t" l="l"/>
            <a:pathLst>
              <a:path h="1201538" w="1246879">
                <a:moveTo>
                  <a:pt x="0" y="0"/>
                </a:moveTo>
                <a:lnTo>
                  <a:pt x="1246879" y="0"/>
                </a:lnTo>
                <a:lnTo>
                  <a:pt x="1246879" y="1201538"/>
                </a:lnTo>
                <a:lnTo>
                  <a:pt x="0" y="12015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2" id="32"/>
          <p:cNvSpPr/>
          <p:nvPr/>
        </p:nvSpPr>
        <p:spPr>
          <a:xfrm flipH="false" flipV="false" rot="0">
            <a:off x="13969314" y="6430432"/>
            <a:ext cx="1114185" cy="1097850"/>
          </a:xfrm>
          <a:custGeom>
            <a:avLst/>
            <a:gdLst/>
            <a:ahLst/>
            <a:cxnLst/>
            <a:rect r="r" b="b" t="t" l="l"/>
            <a:pathLst>
              <a:path h="1097850" w="1114185">
                <a:moveTo>
                  <a:pt x="0" y="0"/>
                </a:moveTo>
                <a:lnTo>
                  <a:pt x="1114185" y="0"/>
                </a:lnTo>
                <a:lnTo>
                  <a:pt x="1114185" y="1097850"/>
                </a:lnTo>
                <a:lnTo>
                  <a:pt x="0" y="10978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3" id="33"/>
          <p:cNvSpPr txBox="true"/>
          <p:nvPr/>
        </p:nvSpPr>
        <p:spPr>
          <a:xfrm rot="0">
            <a:off x="0" y="4987623"/>
            <a:ext cx="8435520" cy="617601"/>
          </a:xfrm>
          <a:prstGeom prst="rect">
            <a:avLst/>
          </a:prstGeom>
        </p:spPr>
        <p:txBody>
          <a:bodyPr anchor="t" rtlCol="false" tIns="0" lIns="0" bIns="0" rIns="0">
            <a:spAutoFit/>
          </a:bodyPr>
          <a:lstStyle/>
          <a:p>
            <a:pPr algn="l">
              <a:lnSpc>
                <a:spcPts val="2457"/>
              </a:lnSpc>
            </a:pPr>
            <a:r>
              <a:rPr lang="en-US" sz="2100" spc="-52">
                <a:solidFill>
                  <a:srgbClr val="FFFFFF"/>
                </a:solidFill>
                <a:latin typeface="Open Sauce"/>
                <a:ea typeface="Open Sauce"/>
                <a:cs typeface="Open Sauce"/>
                <a:sym typeface="Open Sauce"/>
              </a:rPr>
              <a:t>From</a:t>
            </a:r>
            <a:r>
              <a:rPr lang="en-US" sz="2100" spc="-52">
                <a:solidFill>
                  <a:srgbClr val="FFFFFF"/>
                </a:solidFill>
                <a:latin typeface="Open Sauce"/>
                <a:ea typeface="Open Sauce"/>
                <a:cs typeface="Open Sauce"/>
                <a:sym typeface="Open Sauce"/>
              </a:rPr>
              <a:t> Citizen Needs to Clear Action Plans</a:t>
            </a:r>
          </a:p>
          <a:p>
            <a:pPr algn="l">
              <a:lnSpc>
                <a:spcPts val="2457"/>
              </a:lnSpc>
            </a:pPr>
          </a:p>
        </p:txBody>
      </p:sp>
      <p:grpSp>
        <p:nvGrpSpPr>
          <p:cNvPr name="Group 34" id="34"/>
          <p:cNvGrpSpPr/>
          <p:nvPr/>
        </p:nvGrpSpPr>
        <p:grpSpPr>
          <a:xfrm rot="0">
            <a:off x="13041076" y="1065670"/>
            <a:ext cx="3390003" cy="3461511"/>
            <a:chOff x="0" y="0"/>
            <a:chExt cx="929518" cy="949125"/>
          </a:xfrm>
        </p:grpSpPr>
        <p:sp>
          <p:nvSpPr>
            <p:cNvPr name="Freeform 35" id="35"/>
            <p:cNvSpPr/>
            <p:nvPr/>
          </p:nvSpPr>
          <p:spPr>
            <a:xfrm flipH="false" flipV="false" rot="0">
              <a:off x="0" y="0"/>
              <a:ext cx="929518" cy="949125"/>
            </a:xfrm>
            <a:custGeom>
              <a:avLst/>
              <a:gdLst/>
              <a:ahLst/>
              <a:cxnLst/>
              <a:rect r="r" b="b" t="t" l="l"/>
              <a:pathLst>
                <a:path h="949125" w="929518">
                  <a:moveTo>
                    <a:pt x="116471" y="0"/>
                  </a:moveTo>
                  <a:lnTo>
                    <a:pt x="813047" y="0"/>
                  </a:lnTo>
                  <a:cubicBezTo>
                    <a:pt x="877372" y="0"/>
                    <a:pt x="929518" y="52146"/>
                    <a:pt x="929518" y="116471"/>
                  </a:cubicBezTo>
                  <a:lnTo>
                    <a:pt x="929518" y="832654"/>
                  </a:lnTo>
                  <a:cubicBezTo>
                    <a:pt x="929518" y="896979"/>
                    <a:pt x="877372" y="949125"/>
                    <a:pt x="813047" y="949125"/>
                  </a:cubicBezTo>
                  <a:lnTo>
                    <a:pt x="116471" y="949125"/>
                  </a:lnTo>
                  <a:cubicBezTo>
                    <a:pt x="52146" y="949125"/>
                    <a:pt x="0" y="896979"/>
                    <a:pt x="0" y="832654"/>
                  </a:cubicBezTo>
                  <a:lnTo>
                    <a:pt x="0" y="116471"/>
                  </a:lnTo>
                  <a:cubicBezTo>
                    <a:pt x="0" y="52146"/>
                    <a:pt x="52146" y="0"/>
                    <a:pt x="116471"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36" id="36"/>
            <p:cNvSpPr txBox="true"/>
            <p:nvPr/>
          </p:nvSpPr>
          <p:spPr>
            <a:xfrm>
              <a:off x="0" y="-38100"/>
              <a:ext cx="929518" cy="987225"/>
            </a:xfrm>
            <a:prstGeom prst="rect">
              <a:avLst/>
            </a:prstGeom>
          </p:spPr>
          <p:txBody>
            <a:bodyPr anchor="ctr" rtlCol="false" tIns="50800" lIns="50800" bIns="50800" rIns="50800"/>
            <a:lstStyle/>
            <a:p>
              <a:pPr algn="ctr">
                <a:lnSpc>
                  <a:spcPts val="2659"/>
                </a:lnSpc>
                <a:spcBef>
                  <a:spcPct val="0"/>
                </a:spcBef>
              </a:pPr>
            </a:p>
          </p:txBody>
        </p:sp>
      </p:grpSp>
      <p:grpSp>
        <p:nvGrpSpPr>
          <p:cNvPr name="Group 37" id="37"/>
          <p:cNvGrpSpPr/>
          <p:nvPr/>
        </p:nvGrpSpPr>
        <p:grpSpPr>
          <a:xfrm rot="0">
            <a:off x="13487825" y="1158302"/>
            <a:ext cx="962979" cy="867361"/>
            <a:chOff x="0" y="0"/>
            <a:chExt cx="253624" cy="228441"/>
          </a:xfrm>
        </p:grpSpPr>
        <p:sp>
          <p:nvSpPr>
            <p:cNvPr name="Freeform 38" id="38"/>
            <p:cNvSpPr/>
            <p:nvPr/>
          </p:nvSpPr>
          <p:spPr>
            <a:xfrm flipH="false" flipV="false" rot="0">
              <a:off x="0" y="0"/>
              <a:ext cx="253624" cy="228441"/>
            </a:xfrm>
            <a:custGeom>
              <a:avLst/>
              <a:gdLst/>
              <a:ahLst/>
              <a:cxnLst/>
              <a:rect r="r" b="b" t="t" l="l"/>
              <a:pathLst>
                <a:path h="228441" w="253624">
                  <a:moveTo>
                    <a:pt x="114220" y="0"/>
                  </a:moveTo>
                  <a:lnTo>
                    <a:pt x="139404" y="0"/>
                  </a:lnTo>
                  <a:cubicBezTo>
                    <a:pt x="202486" y="0"/>
                    <a:pt x="253624" y="51138"/>
                    <a:pt x="253624" y="114220"/>
                  </a:cubicBezTo>
                  <a:lnTo>
                    <a:pt x="253624" y="114220"/>
                  </a:lnTo>
                  <a:cubicBezTo>
                    <a:pt x="253624" y="144514"/>
                    <a:pt x="241590" y="173566"/>
                    <a:pt x="220170" y="194986"/>
                  </a:cubicBezTo>
                  <a:cubicBezTo>
                    <a:pt x="198749" y="216407"/>
                    <a:pt x="169697" y="228441"/>
                    <a:pt x="139404" y="228441"/>
                  </a:cubicBezTo>
                  <a:lnTo>
                    <a:pt x="114220" y="228441"/>
                  </a:lnTo>
                  <a:cubicBezTo>
                    <a:pt x="51138" y="228441"/>
                    <a:pt x="0" y="177303"/>
                    <a:pt x="0" y="114220"/>
                  </a:cubicBezTo>
                  <a:lnTo>
                    <a:pt x="0" y="114220"/>
                  </a:lnTo>
                  <a:cubicBezTo>
                    <a:pt x="0" y="51138"/>
                    <a:pt x="51138" y="0"/>
                    <a:pt x="114220" y="0"/>
                  </a:cubicBezTo>
                  <a:close/>
                </a:path>
              </a:pathLst>
            </a:custGeom>
            <a:solidFill>
              <a:srgbClr val="1800AD"/>
            </a:solidFill>
            <a:ln w="28575" cap="rnd">
              <a:solidFill>
                <a:srgbClr val="1800AD"/>
              </a:solidFill>
              <a:prstDash val="solid"/>
              <a:round/>
            </a:ln>
          </p:spPr>
        </p:sp>
        <p:sp>
          <p:nvSpPr>
            <p:cNvPr name="TextBox 39" id="39"/>
            <p:cNvSpPr txBox="true"/>
            <p:nvPr/>
          </p:nvSpPr>
          <p:spPr>
            <a:xfrm>
              <a:off x="0" y="-38100"/>
              <a:ext cx="253624" cy="266541"/>
            </a:xfrm>
            <a:prstGeom prst="rect">
              <a:avLst/>
            </a:prstGeom>
          </p:spPr>
          <p:txBody>
            <a:bodyPr anchor="ctr" rtlCol="false" tIns="50800" lIns="50800" bIns="50800" rIns="50800"/>
            <a:lstStyle/>
            <a:p>
              <a:pPr algn="ctr">
                <a:lnSpc>
                  <a:spcPts val="2659"/>
                </a:lnSpc>
                <a:spcBef>
                  <a:spcPct val="0"/>
                </a:spcBef>
              </a:pPr>
            </a:p>
          </p:txBody>
        </p:sp>
      </p:grpSp>
      <p:sp>
        <p:nvSpPr>
          <p:cNvPr name="Freeform 40" id="40"/>
          <p:cNvSpPr/>
          <p:nvPr/>
        </p:nvSpPr>
        <p:spPr>
          <a:xfrm flipH="false" flipV="false" rot="0">
            <a:off x="14516933" y="1809746"/>
            <a:ext cx="953940" cy="945267"/>
          </a:xfrm>
          <a:custGeom>
            <a:avLst/>
            <a:gdLst/>
            <a:ahLst/>
            <a:cxnLst/>
            <a:rect r="r" b="b" t="t" l="l"/>
            <a:pathLst>
              <a:path h="945267" w="953940">
                <a:moveTo>
                  <a:pt x="0" y="0"/>
                </a:moveTo>
                <a:lnTo>
                  <a:pt x="953939" y="0"/>
                </a:lnTo>
                <a:lnTo>
                  <a:pt x="953939" y="945268"/>
                </a:lnTo>
                <a:lnTo>
                  <a:pt x="0" y="945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1" id="41"/>
          <p:cNvGrpSpPr/>
          <p:nvPr/>
        </p:nvGrpSpPr>
        <p:grpSpPr>
          <a:xfrm rot="0">
            <a:off x="8382023" y="5949"/>
            <a:ext cx="3533967" cy="3607594"/>
            <a:chOff x="0" y="0"/>
            <a:chExt cx="968992" cy="989180"/>
          </a:xfrm>
        </p:grpSpPr>
        <p:sp>
          <p:nvSpPr>
            <p:cNvPr name="Freeform 42" id="42"/>
            <p:cNvSpPr/>
            <p:nvPr/>
          </p:nvSpPr>
          <p:spPr>
            <a:xfrm flipH="false" flipV="false" rot="0">
              <a:off x="0" y="0"/>
              <a:ext cx="968992" cy="989180"/>
            </a:xfrm>
            <a:custGeom>
              <a:avLst/>
              <a:gdLst/>
              <a:ahLst/>
              <a:cxnLst/>
              <a:rect r="r" b="b" t="t" l="l"/>
              <a:pathLst>
                <a:path h="989180" w="968992">
                  <a:moveTo>
                    <a:pt x="111727" y="0"/>
                  </a:moveTo>
                  <a:lnTo>
                    <a:pt x="857265" y="0"/>
                  </a:lnTo>
                  <a:cubicBezTo>
                    <a:pt x="918970" y="0"/>
                    <a:pt x="968992" y="50022"/>
                    <a:pt x="968992" y="111727"/>
                  </a:cubicBezTo>
                  <a:lnTo>
                    <a:pt x="968992" y="877454"/>
                  </a:lnTo>
                  <a:cubicBezTo>
                    <a:pt x="968992" y="939159"/>
                    <a:pt x="918970" y="989180"/>
                    <a:pt x="857265" y="989180"/>
                  </a:cubicBezTo>
                  <a:lnTo>
                    <a:pt x="111727" y="989180"/>
                  </a:lnTo>
                  <a:cubicBezTo>
                    <a:pt x="50022" y="989180"/>
                    <a:pt x="0" y="939159"/>
                    <a:pt x="0" y="877454"/>
                  </a:cubicBezTo>
                  <a:lnTo>
                    <a:pt x="0" y="111727"/>
                  </a:lnTo>
                  <a:cubicBezTo>
                    <a:pt x="0" y="50022"/>
                    <a:pt x="50022" y="0"/>
                    <a:pt x="111727" y="0"/>
                  </a:cubicBezTo>
                  <a:close/>
                </a:path>
              </a:pathLst>
            </a:custGeom>
            <a:gradFill rotWithShape="true">
              <a:gsLst>
                <a:gs pos="0">
                  <a:srgbClr val="000000">
                    <a:alpha val="100000"/>
                  </a:srgbClr>
                </a:gs>
                <a:gs pos="100000">
                  <a:srgbClr val="111137">
                    <a:alpha val="100000"/>
                  </a:srgbClr>
                </a:gs>
              </a:gsLst>
              <a:path path="circle">
                <a:fillToRect l="50000" r="50000" t="50000" b="50000"/>
              </a:path>
            </a:gradFill>
            <a:ln w="28575" cap="rnd">
              <a:solidFill>
                <a:srgbClr val="1800AD"/>
              </a:solidFill>
              <a:prstDash val="solid"/>
              <a:round/>
            </a:ln>
          </p:spPr>
        </p:sp>
        <p:sp>
          <p:nvSpPr>
            <p:cNvPr name="TextBox 43" id="43"/>
            <p:cNvSpPr txBox="true"/>
            <p:nvPr/>
          </p:nvSpPr>
          <p:spPr>
            <a:xfrm>
              <a:off x="0" y="-38100"/>
              <a:ext cx="968992" cy="1027280"/>
            </a:xfrm>
            <a:prstGeom prst="rect">
              <a:avLst/>
            </a:prstGeom>
          </p:spPr>
          <p:txBody>
            <a:bodyPr anchor="ctr" rtlCol="false" tIns="50800" lIns="50800" bIns="50800" rIns="50800"/>
            <a:lstStyle/>
            <a:p>
              <a:pPr algn="ctr">
                <a:lnSpc>
                  <a:spcPts val="2659"/>
                </a:lnSpc>
                <a:spcBef>
                  <a:spcPct val="0"/>
                </a:spcBef>
              </a:pPr>
            </a:p>
          </p:txBody>
        </p:sp>
      </p:grpSp>
      <p:grpSp>
        <p:nvGrpSpPr>
          <p:cNvPr name="Group 44" id="44"/>
          <p:cNvGrpSpPr/>
          <p:nvPr/>
        </p:nvGrpSpPr>
        <p:grpSpPr>
          <a:xfrm rot="0">
            <a:off x="8696633" y="199524"/>
            <a:ext cx="894735" cy="829176"/>
            <a:chOff x="0" y="0"/>
            <a:chExt cx="235650" cy="218384"/>
          </a:xfrm>
        </p:grpSpPr>
        <p:sp>
          <p:nvSpPr>
            <p:cNvPr name="Freeform 45" id="45"/>
            <p:cNvSpPr/>
            <p:nvPr/>
          </p:nvSpPr>
          <p:spPr>
            <a:xfrm flipH="false" flipV="false" rot="0">
              <a:off x="0" y="0"/>
              <a:ext cx="235650" cy="218384"/>
            </a:xfrm>
            <a:custGeom>
              <a:avLst/>
              <a:gdLst/>
              <a:ahLst/>
              <a:cxnLst/>
              <a:rect r="r" b="b" t="t" l="l"/>
              <a:pathLst>
                <a:path h="218384" w="235650">
                  <a:moveTo>
                    <a:pt x="109192" y="0"/>
                  </a:moveTo>
                  <a:lnTo>
                    <a:pt x="126458" y="0"/>
                  </a:lnTo>
                  <a:cubicBezTo>
                    <a:pt x="155418" y="0"/>
                    <a:pt x="183191" y="11504"/>
                    <a:pt x="203669" y="31982"/>
                  </a:cubicBezTo>
                  <a:cubicBezTo>
                    <a:pt x="224146" y="52459"/>
                    <a:pt x="235650" y="80232"/>
                    <a:pt x="235650" y="109192"/>
                  </a:cubicBezTo>
                  <a:lnTo>
                    <a:pt x="235650" y="109192"/>
                  </a:lnTo>
                  <a:cubicBezTo>
                    <a:pt x="235650" y="169497"/>
                    <a:pt x="186763" y="218384"/>
                    <a:pt x="126458" y="218384"/>
                  </a:cubicBezTo>
                  <a:lnTo>
                    <a:pt x="109192" y="218384"/>
                  </a:lnTo>
                  <a:cubicBezTo>
                    <a:pt x="80232" y="218384"/>
                    <a:pt x="52459" y="206880"/>
                    <a:pt x="31982" y="186402"/>
                  </a:cubicBezTo>
                  <a:cubicBezTo>
                    <a:pt x="11504" y="165925"/>
                    <a:pt x="0" y="138151"/>
                    <a:pt x="0" y="109192"/>
                  </a:cubicBezTo>
                  <a:lnTo>
                    <a:pt x="0" y="109192"/>
                  </a:lnTo>
                  <a:cubicBezTo>
                    <a:pt x="0" y="80232"/>
                    <a:pt x="11504" y="52459"/>
                    <a:pt x="31982" y="31982"/>
                  </a:cubicBezTo>
                  <a:cubicBezTo>
                    <a:pt x="52459" y="11504"/>
                    <a:pt x="80232" y="0"/>
                    <a:pt x="109192" y="0"/>
                  </a:cubicBezTo>
                  <a:close/>
                </a:path>
              </a:pathLst>
            </a:custGeom>
            <a:solidFill>
              <a:srgbClr val="1800AD"/>
            </a:solidFill>
            <a:ln w="28575" cap="rnd">
              <a:solidFill>
                <a:srgbClr val="1800AD"/>
              </a:solidFill>
              <a:prstDash val="solid"/>
              <a:round/>
            </a:ln>
          </p:spPr>
        </p:sp>
        <p:sp>
          <p:nvSpPr>
            <p:cNvPr name="TextBox 46" id="46"/>
            <p:cNvSpPr txBox="true"/>
            <p:nvPr/>
          </p:nvSpPr>
          <p:spPr>
            <a:xfrm>
              <a:off x="0" y="-38100"/>
              <a:ext cx="235650" cy="256484"/>
            </a:xfrm>
            <a:prstGeom prst="rect">
              <a:avLst/>
            </a:prstGeom>
          </p:spPr>
          <p:txBody>
            <a:bodyPr anchor="ctr" rtlCol="false" tIns="50800" lIns="50800" bIns="50800" rIns="50800"/>
            <a:lstStyle/>
            <a:p>
              <a:pPr algn="ctr">
                <a:lnSpc>
                  <a:spcPts val="2659"/>
                </a:lnSpc>
                <a:spcBef>
                  <a:spcPct val="0"/>
                </a:spcBef>
              </a:pPr>
            </a:p>
          </p:txBody>
        </p:sp>
      </p:grpSp>
      <p:sp>
        <p:nvSpPr>
          <p:cNvPr name="Freeform 47" id="47"/>
          <p:cNvSpPr/>
          <p:nvPr/>
        </p:nvSpPr>
        <p:spPr>
          <a:xfrm flipH="false" flipV="false" rot="0">
            <a:off x="9464220" y="1158302"/>
            <a:ext cx="860908" cy="829603"/>
          </a:xfrm>
          <a:custGeom>
            <a:avLst/>
            <a:gdLst/>
            <a:ahLst/>
            <a:cxnLst/>
            <a:rect r="r" b="b" t="t" l="l"/>
            <a:pathLst>
              <a:path h="829603" w="860908">
                <a:moveTo>
                  <a:pt x="0" y="0"/>
                </a:moveTo>
                <a:lnTo>
                  <a:pt x="860909" y="0"/>
                </a:lnTo>
                <a:lnTo>
                  <a:pt x="860909" y="829602"/>
                </a:lnTo>
                <a:lnTo>
                  <a:pt x="0" y="8296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48" id="48"/>
          <p:cNvGrpSpPr/>
          <p:nvPr/>
        </p:nvGrpSpPr>
        <p:grpSpPr>
          <a:xfrm rot="0">
            <a:off x="4271300" y="5795724"/>
            <a:ext cx="933202" cy="933202"/>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00AD"/>
            </a:solidFill>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1" id="51"/>
          <p:cNvSpPr txBox="true"/>
          <p:nvPr/>
        </p:nvSpPr>
        <p:spPr>
          <a:xfrm rot="0">
            <a:off x="3654239" y="3413210"/>
            <a:ext cx="3576855" cy="1326627"/>
          </a:xfrm>
          <a:prstGeom prst="rect">
            <a:avLst/>
          </a:prstGeom>
        </p:spPr>
        <p:txBody>
          <a:bodyPr anchor="t" rtlCol="false" tIns="0" lIns="0" bIns="0" rIns="0">
            <a:spAutoFit/>
          </a:bodyPr>
          <a:lstStyle/>
          <a:p>
            <a:pPr algn="ctr" marL="0" indent="0" lvl="0">
              <a:lnSpc>
                <a:spcPts val="2159"/>
              </a:lnSpc>
              <a:spcBef>
                <a:spcPct val="0"/>
              </a:spcBef>
            </a:pPr>
            <a:r>
              <a:rPr lang="en-US" b="true" sz="1799" spc="-48">
                <a:solidFill>
                  <a:srgbClr val="FFFFFF"/>
                </a:solidFill>
                <a:latin typeface="Open Sauce Bold"/>
                <a:ea typeface="Open Sauce Bold"/>
                <a:cs typeface="Open Sauce Bold"/>
                <a:sym typeface="Open Sauce Bold"/>
              </a:rPr>
              <a:t> UN</a:t>
            </a:r>
            <a:r>
              <a:rPr lang="en-US" b="true" sz="1799" spc="-48" strike="noStrike" u="none">
                <a:solidFill>
                  <a:srgbClr val="FFFFFF"/>
                </a:solidFill>
                <a:latin typeface="Open Sauce Bold"/>
                <a:ea typeface="Open Sauce Bold"/>
                <a:cs typeface="Open Sauce Bold"/>
                <a:sym typeface="Open Sauce Bold"/>
              </a:rPr>
              <a:t>D</a:t>
            </a:r>
            <a:r>
              <a:rPr lang="en-US" b="true" sz="1799" spc="-48" strike="noStrike" u="none">
                <a:solidFill>
                  <a:srgbClr val="FFFFFF"/>
                </a:solidFill>
                <a:latin typeface="Open Sauce Bold"/>
                <a:ea typeface="Open Sauce Bold"/>
                <a:cs typeface="Open Sauce Bold"/>
                <a:sym typeface="Open Sauce Bold"/>
              </a:rPr>
              <a:t>ERSTAND</a:t>
            </a:r>
          </a:p>
          <a:p>
            <a:pPr algn="ctr" marL="0" indent="0" lvl="0">
              <a:lnSpc>
                <a:spcPts val="2159"/>
              </a:lnSpc>
              <a:spcBef>
                <a:spcPct val="0"/>
              </a:spcBef>
            </a:pPr>
            <a:r>
              <a:rPr lang="en-US" b="true" sz="1799" spc="-48" strike="noStrike" u="none">
                <a:solidFill>
                  <a:srgbClr val="FFFFFF"/>
                </a:solidFill>
                <a:latin typeface="Open Sauce Bold"/>
                <a:ea typeface="Open Sauce Bold"/>
                <a:cs typeface="Open Sauce Bold"/>
                <a:sym typeface="Open Sauce Bold"/>
              </a:rPr>
              <a:t>CITIZENS DESCRIBE THEIR NEEDS IN N</a:t>
            </a:r>
            <a:r>
              <a:rPr lang="en-US" b="true" sz="1799" spc="-48" strike="noStrike" u="none">
                <a:solidFill>
                  <a:srgbClr val="FFFFFF"/>
                </a:solidFill>
                <a:latin typeface="Open Sauce Bold"/>
                <a:ea typeface="Open Sauce Bold"/>
                <a:cs typeface="Open Sauce Bold"/>
                <a:sym typeface="Open Sauce Bold"/>
              </a:rPr>
              <a:t>AT</a:t>
            </a:r>
            <a:r>
              <a:rPr lang="en-US" b="true" sz="1799" spc="-48" strike="noStrike" u="none">
                <a:solidFill>
                  <a:srgbClr val="FFFFFF"/>
                </a:solidFill>
                <a:latin typeface="Open Sauce Bold"/>
                <a:ea typeface="Open Sauce Bold"/>
                <a:cs typeface="Open Sauce Bold"/>
                <a:sym typeface="Open Sauce Bold"/>
              </a:rPr>
              <a:t>UR</a:t>
            </a:r>
            <a:r>
              <a:rPr lang="en-US" b="true" sz="1799" spc="-48" strike="noStrike" u="none">
                <a:solidFill>
                  <a:srgbClr val="FFFFFF"/>
                </a:solidFill>
                <a:latin typeface="Open Sauce Bold"/>
                <a:ea typeface="Open Sauce Bold"/>
                <a:cs typeface="Open Sauce Bold"/>
                <a:sym typeface="Open Sauce Bold"/>
              </a:rPr>
              <a:t>A</a:t>
            </a:r>
            <a:r>
              <a:rPr lang="en-US" b="true" sz="1799" spc="-48" strike="noStrike" u="none">
                <a:solidFill>
                  <a:srgbClr val="FFFFFF"/>
                </a:solidFill>
                <a:latin typeface="Open Sauce Bold"/>
                <a:ea typeface="Open Sauce Bold"/>
                <a:cs typeface="Open Sauce Bold"/>
                <a:sym typeface="Open Sauce Bold"/>
              </a:rPr>
              <a:t>L </a:t>
            </a:r>
            <a:r>
              <a:rPr lang="en-US" b="true" sz="1799" spc="-48" strike="noStrike" u="none">
                <a:solidFill>
                  <a:srgbClr val="FFFFFF"/>
                </a:solidFill>
                <a:latin typeface="Open Sauce Bold"/>
                <a:ea typeface="Open Sauce Bold"/>
                <a:cs typeface="Open Sauce Bold"/>
                <a:sym typeface="Open Sauce Bold"/>
              </a:rPr>
              <a:t>L</a:t>
            </a:r>
            <a:r>
              <a:rPr lang="en-US" b="true" sz="1799" spc="-48" strike="noStrike" u="none">
                <a:solidFill>
                  <a:srgbClr val="FFFFFF"/>
                </a:solidFill>
                <a:latin typeface="Open Sauce Bold"/>
                <a:ea typeface="Open Sauce Bold"/>
                <a:cs typeface="Open Sauce Bold"/>
                <a:sym typeface="Open Sauce Bold"/>
              </a:rPr>
              <a:t>ANGUAG</a:t>
            </a:r>
            <a:r>
              <a:rPr lang="en-US" b="true" sz="1799" spc="-48" strike="noStrike" u="none">
                <a:solidFill>
                  <a:srgbClr val="FFFFFF"/>
                </a:solidFill>
                <a:latin typeface="Open Sauce Bold"/>
                <a:ea typeface="Open Sauce Bold"/>
                <a:cs typeface="Open Sauce Bold"/>
                <a:sym typeface="Open Sauce Bold"/>
              </a:rPr>
              <a:t>E</a:t>
            </a:r>
            <a:r>
              <a:rPr lang="en-US" b="true" sz="1799" spc="-48" strike="noStrike" u="none">
                <a:solidFill>
                  <a:srgbClr val="FFFFFF"/>
                </a:solidFill>
                <a:latin typeface="Open Sauce Bold"/>
                <a:ea typeface="Open Sauce Bold"/>
                <a:cs typeface="Open Sauce Bold"/>
                <a:sym typeface="Open Sauce Bold"/>
              </a:rPr>
              <a:t>, IN</a:t>
            </a:r>
            <a:r>
              <a:rPr lang="en-US" b="true" sz="1799" spc="-48" strike="noStrike" u="none">
                <a:solidFill>
                  <a:srgbClr val="FFFFFF"/>
                </a:solidFill>
                <a:latin typeface="Open Sauce Bold"/>
                <a:ea typeface="Open Sauce Bold"/>
                <a:cs typeface="Open Sauce Bold"/>
                <a:sym typeface="Open Sauce Bold"/>
              </a:rPr>
              <a:t>C</a:t>
            </a:r>
            <a:r>
              <a:rPr lang="en-US" b="true" sz="1799" spc="-48" strike="noStrike" u="none">
                <a:solidFill>
                  <a:srgbClr val="FFFFFF"/>
                </a:solidFill>
                <a:latin typeface="Open Sauce Bold"/>
                <a:ea typeface="Open Sauce Bold"/>
                <a:cs typeface="Open Sauce Bold"/>
                <a:sym typeface="Open Sauce Bold"/>
              </a:rPr>
              <a:t>LUD</a:t>
            </a:r>
            <a:r>
              <a:rPr lang="en-US" b="true" sz="1799" spc="-48" strike="noStrike" u="none">
                <a:solidFill>
                  <a:srgbClr val="FFFFFF"/>
                </a:solidFill>
                <a:latin typeface="Open Sauce Bold"/>
                <a:ea typeface="Open Sauce Bold"/>
                <a:cs typeface="Open Sauce Bold"/>
                <a:sym typeface="Open Sauce Bold"/>
              </a:rPr>
              <a:t>I</a:t>
            </a:r>
            <a:r>
              <a:rPr lang="en-US" b="true" sz="1799" spc="-48" strike="noStrike" u="none">
                <a:solidFill>
                  <a:srgbClr val="FFFFFF"/>
                </a:solidFill>
                <a:latin typeface="Open Sauce Bold"/>
                <a:ea typeface="Open Sauce Bold"/>
                <a:cs typeface="Open Sauce Bold"/>
                <a:sym typeface="Open Sauce Bold"/>
              </a:rPr>
              <a:t>NG V</a:t>
            </a:r>
            <a:r>
              <a:rPr lang="en-US" b="true" sz="1799" spc="-48" strike="noStrike" u="none">
                <a:solidFill>
                  <a:srgbClr val="FFFFFF"/>
                </a:solidFill>
                <a:latin typeface="Open Sauce Bold"/>
                <a:ea typeface="Open Sauce Bold"/>
                <a:cs typeface="Open Sauce Bold"/>
                <a:sym typeface="Open Sauce Bold"/>
              </a:rPr>
              <a:t>O</a:t>
            </a:r>
            <a:r>
              <a:rPr lang="en-US" b="true" sz="1799" spc="-48" strike="noStrike" u="none">
                <a:solidFill>
                  <a:srgbClr val="FFFFFF"/>
                </a:solidFill>
                <a:latin typeface="Open Sauce Bold"/>
                <a:ea typeface="Open Sauce Bold"/>
                <a:cs typeface="Open Sauce Bold"/>
                <a:sym typeface="Open Sauce Bold"/>
              </a:rPr>
              <a:t>ICE I</a:t>
            </a:r>
            <a:r>
              <a:rPr lang="en-US" b="true" sz="1799" spc="-48" strike="noStrike" u="none">
                <a:solidFill>
                  <a:srgbClr val="FFFFFF"/>
                </a:solidFill>
                <a:latin typeface="Open Sauce Bold"/>
                <a:ea typeface="Open Sauce Bold"/>
                <a:cs typeface="Open Sauce Bold"/>
                <a:sym typeface="Open Sauce Bold"/>
              </a:rPr>
              <a:t>N</a:t>
            </a:r>
            <a:r>
              <a:rPr lang="en-US" b="true" sz="1799" spc="-48" strike="noStrike" u="none">
                <a:solidFill>
                  <a:srgbClr val="FFFFFF"/>
                </a:solidFill>
                <a:latin typeface="Open Sauce Bold"/>
                <a:ea typeface="Open Sauce Bold"/>
                <a:cs typeface="Open Sauce Bold"/>
                <a:sym typeface="Open Sauce Bold"/>
              </a:rPr>
              <a:t>PUT.</a:t>
            </a:r>
          </a:p>
          <a:p>
            <a:pPr algn="ctr" marL="0" indent="0" lvl="0">
              <a:lnSpc>
                <a:spcPts val="2159"/>
              </a:lnSpc>
              <a:spcBef>
                <a:spcPct val="0"/>
              </a:spcBef>
            </a:pPr>
          </a:p>
        </p:txBody>
      </p:sp>
      <p:sp>
        <p:nvSpPr>
          <p:cNvPr name="TextBox 52" id="52"/>
          <p:cNvSpPr txBox="true"/>
          <p:nvPr/>
        </p:nvSpPr>
        <p:spPr>
          <a:xfrm rot="0">
            <a:off x="4341322" y="7558058"/>
            <a:ext cx="2952995" cy="1095242"/>
          </a:xfrm>
          <a:prstGeom prst="rect">
            <a:avLst/>
          </a:prstGeom>
        </p:spPr>
        <p:txBody>
          <a:bodyPr anchor="t" rtlCol="false" tIns="0" lIns="0" bIns="0" rIns="0">
            <a:spAutoFit/>
          </a:bodyPr>
          <a:lstStyle/>
          <a:p>
            <a:pPr algn="ctr">
              <a:lnSpc>
                <a:spcPts val="1783"/>
              </a:lnSpc>
            </a:pPr>
            <a:r>
              <a:rPr lang="en-US" b="true" sz="1486" spc="-40">
                <a:solidFill>
                  <a:srgbClr val="FFFFFF"/>
                </a:solidFill>
                <a:latin typeface="Open Sauce Bold"/>
                <a:ea typeface="Open Sauce Bold"/>
                <a:cs typeface="Open Sauce Bold"/>
                <a:sym typeface="Open Sauce Bold"/>
              </a:rPr>
              <a:t>CLARIFY</a:t>
            </a:r>
          </a:p>
          <a:p>
            <a:pPr algn="ctr" marL="0" indent="0" lvl="0">
              <a:lnSpc>
                <a:spcPts val="1783"/>
              </a:lnSpc>
              <a:spcBef>
                <a:spcPct val="0"/>
              </a:spcBef>
            </a:pPr>
            <a:r>
              <a:rPr lang="en-US" b="true" sz="1486" spc="-40">
                <a:solidFill>
                  <a:srgbClr val="FFFFFF"/>
                </a:solidFill>
                <a:latin typeface="Open Sauce Bold"/>
                <a:ea typeface="Open Sauce Bold"/>
                <a:cs typeface="Open Sauce Bold"/>
                <a:sym typeface="Open Sauce Bold"/>
              </a:rPr>
              <a:t>NAVA asks relev</a:t>
            </a:r>
            <a:r>
              <a:rPr lang="en-US" b="true" sz="1486" spc="-40" strike="noStrike" u="none">
                <a:solidFill>
                  <a:srgbClr val="FFFFFF"/>
                </a:solidFill>
                <a:latin typeface="Open Sauce Bold"/>
                <a:ea typeface="Open Sauce Bold"/>
                <a:cs typeface="Open Sauce Bold"/>
                <a:sym typeface="Open Sauce Bold"/>
              </a:rPr>
              <a:t>A</a:t>
            </a:r>
            <a:r>
              <a:rPr lang="en-US" b="true" sz="1486" spc="-40" strike="noStrike" u="none">
                <a:solidFill>
                  <a:srgbClr val="FFFFFF"/>
                </a:solidFill>
                <a:latin typeface="Open Sauce Bold"/>
                <a:ea typeface="Open Sauce Bold"/>
                <a:cs typeface="Open Sauce Bold"/>
                <a:sym typeface="Open Sauce Bold"/>
              </a:rPr>
              <a:t>N</a:t>
            </a:r>
            <a:r>
              <a:rPr lang="en-US" b="true" sz="1486" spc="-40" strike="noStrike" u="none">
                <a:solidFill>
                  <a:srgbClr val="FFFFFF"/>
                </a:solidFill>
                <a:latin typeface="Open Sauce Bold"/>
                <a:ea typeface="Open Sauce Bold"/>
                <a:cs typeface="Open Sauce Bold"/>
                <a:sym typeface="Open Sauce Bold"/>
              </a:rPr>
              <a:t>T</a:t>
            </a:r>
            <a:r>
              <a:rPr lang="en-US" b="true" sz="1486" spc="-40" strike="noStrike" u="none">
                <a:solidFill>
                  <a:srgbClr val="FFFFFF"/>
                </a:solidFill>
                <a:latin typeface="Open Sauce Bold"/>
                <a:ea typeface="Open Sauce Bold"/>
                <a:cs typeface="Open Sauce Bold"/>
                <a:sym typeface="Open Sauce Bold"/>
              </a:rPr>
              <a:t> QUES</a:t>
            </a:r>
            <a:r>
              <a:rPr lang="en-US" b="true" sz="1486" spc="-40" strike="noStrike" u="none">
                <a:solidFill>
                  <a:srgbClr val="FFFFFF"/>
                </a:solidFill>
                <a:latin typeface="Open Sauce Bold"/>
                <a:ea typeface="Open Sauce Bold"/>
                <a:cs typeface="Open Sauce Bold"/>
                <a:sym typeface="Open Sauce Bold"/>
              </a:rPr>
              <a:t>T</a:t>
            </a:r>
            <a:r>
              <a:rPr lang="en-US" b="true" sz="1486" spc="-40" strike="noStrike" u="none">
                <a:solidFill>
                  <a:srgbClr val="FFFFFF"/>
                </a:solidFill>
                <a:latin typeface="Open Sauce Bold"/>
                <a:ea typeface="Open Sauce Bold"/>
                <a:cs typeface="Open Sauce Bold"/>
                <a:sym typeface="Open Sauce Bold"/>
              </a:rPr>
              <a:t>IONS TO UND</a:t>
            </a:r>
            <a:r>
              <a:rPr lang="en-US" b="true" sz="1486" spc="-40" strike="noStrike" u="none">
                <a:solidFill>
                  <a:srgbClr val="FFFFFF"/>
                </a:solidFill>
                <a:latin typeface="Open Sauce Bold"/>
                <a:ea typeface="Open Sauce Bold"/>
                <a:cs typeface="Open Sauce Bold"/>
                <a:sym typeface="Open Sauce Bold"/>
              </a:rPr>
              <a:t>ER</a:t>
            </a:r>
            <a:r>
              <a:rPr lang="en-US" b="true" sz="1486" spc="-40" strike="noStrike" u="none">
                <a:solidFill>
                  <a:srgbClr val="FFFFFF"/>
                </a:solidFill>
                <a:latin typeface="Open Sauce Bold"/>
                <a:ea typeface="Open Sauce Bold"/>
                <a:cs typeface="Open Sauce Bold"/>
                <a:sym typeface="Open Sauce Bold"/>
              </a:rPr>
              <a:t>STA</a:t>
            </a:r>
            <a:r>
              <a:rPr lang="en-US" b="true" sz="1486" spc="-40" strike="noStrike" u="none">
                <a:solidFill>
                  <a:srgbClr val="FFFFFF"/>
                </a:solidFill>
                <a:latin typeface="Open Sauce Bold"/>
                <a:ea typeface="Open Sauce Bold"/>
                <a:cs typeface="Open Sauce Bold"/>
                <a:sym typeface="Open Sauce Bold"/>
              </a:rPr>
              <a:t>N</a:t>
            </a:r>
            <a:r>
              <a:rPr lang="en-US" b="true" sz="1486" spc="-40" strike="noStrike" u="none">
                <a:solidFill>
                  <a:srgbClr val="FFFFFF"/>
                </a:solidFill>
                <a:latin typeface="Open Sauce Bold"/>
                <a:ea typeface="Open Sauce Bold"/>
                <a:cs typeface="Open Sauce Bold"/>
                <a:sym typeface="Open Sauce Bold"/>
              </a:rPr>
              <a:t>D THE CITIZEN'S SITUATION.</a:t>
            </a:r>
          </a:p>
          <a:p>
            <a:pPr algn="ctr" marL="0" indent="0" lvl="0">
              <a:lnSpc>
                <a:spcPts val="1783"/>
              </a:lnSpc>
              <a:spcBef>
                <a:spcPct val="0"/>
              </a:spcBef>
            </a:pPr>
            <a:r>
              <a:rPr lang="en-US" b="true" sz="1486" spc="-40" strike="noStrike" u="none">
                <a:solidFill>
                  <a:srgbClr val="FFFFFF"/>
                </a:solidFill>
                <a:latin typeface="Open Sauce Bold"/>
                <a:ea typeface="Open Sauce Bold"/>
                <a:cs typeface="Open Sauce Bold"/>
                <a:sym typeface="Open Sauce Bold"/>
              </a:rPr>
              <a:t>RECOGNITION</a:t>
            </a:r>
          </a:p>
        </p:txBody>
      </p:sp>
      <p:sp>
        <p:nvSpPr>
          <p:cNvPr name="TextBox 53" id="53"/>
          <p:cNvSpPr txBox="true"/>
          <p:nvPr/>
        </p:nvSpPr>
        <p:spPr>
          <a:xfrm rot="0">
            <a:off x="8975949" y="8747014"/>
            <a:ext cx="2346115" cy="879680"/>
          </a:xfrm>
          <a:prstGeom prst="rect">
            <a:avLst/>
          </a:prstGeom>
        </p:spPr>
        <p:txBody>
          <a:bodyPr anchor="t" rtlCol="false" tIns="0" lIns="0" bIns="0" rIns="0">
            <a:spAutoFit/>
          </a:bodyPr>
          <a:lstStyle/>
          <a:p>
            <a:pPr algn="ctr">
              <a:lnSpc>
                <a:spcPts val="1416"/>
              </a:lnSpc>
            </a:pPr>
            <a:r>
              <a:rPr lang="en-US" b="true" sz="1180" spc="-31">
                <a:solidFill>
                  <a:srgbClr val="FFFFFF"/>
                </a:solidFill>
                <a:latin typeface="Open Sauce Bold"/>
                <a:ea typeface="Open Sauce Bold"/>
                <a:cs typeface="Open Sauce Bold"/>
                <a:sym typeface="Open Sauce Bold"/>
              </a:rPr>
              <a:t> DISCOVER</a:t>
            </a:r>
          </a:p>
          <a:p>
            <a:pPr algn="ctr" marL="0" indent="0" lvl="0">
              <a:lnSpc>
                <a:spcPts val="1416"/>
              </a:lnSpc>
              <a:spcBef>
                <a:spcPct val="0"/>
              </a:spcBef>
            </a:pPr>
            <a:r>
              <a:rPr lang="en-US" b="true" sz="1180" spc="-31">
                <a:solidFill>
                  <a:srgbClr val="FFFFFF"/>
                </a:solidFill>
                <a:latin typeface="Open Sauce Bold"/>
                <a:ea typeface="Open Sauce Bold"/>
                <a:cs typeface="Open Sauce Bold"/>
                <a:sym typeface="Open Sauce Bold"/>
              </a:rPr>
              <a:t>Identifies relev</a:t>
            </a:r>
            <a:r>
              <a:rPr lang="en-US" b="true" sz="1180" spc="-31" strike="noStrike" u="none">
                <a:solidFill>
                  <a:srgbClr val="FFFFFF"/>
                </a:solidFill>
                <a:latin typeface="Open Sauce Bold"/>
                <a:ea typeface="Open Sauce Bold"/>
                <a:cs typeface="Open Sauce Bold"/>
                <a:sym typeface="Open Sauce Bold"/>
              </a:rPr>
              <a:t>A</a:t>
            </a:r>
            <a:r>
              <a:rPr lang="en-US" b="true" sz="1180" spc="-31" strike="noStrike" u="none">
                <a:solidFill>
                  <a:srgbClr val="FFFFFF"/>
                </a:solidFill>
                <a:latin typeface="Open Sauce Bold"/>
                <a:ea typeface="Open Sauce Bold"/>
                <a:cs typeface="Open Sauce Bold"/>
                <a:sym typeface="Open Sauce Bold"/>
              </a:rPr>
              <a:t>NT GOVERNMENT SERVI</a:t>
            </a:r>
            <a:r>
              <a:rPr lang="en-US" b="true" sz="1180" spc="-31" strike="noStrike" u="none">
                <a:solidFill>
                  <a:srgbClr val="FFFFFF"/>
                </a:solidFill>
                <a:latin typeface="Open Sauce Bold"/>
                <a:ea typeface="Open Sauce Bold"/>
                <a:cs typeface="Open Sauce Bold"/>
                <a:sym typeface="Open Sauce Bold"/>
              </a:rPr>
              <a:t>C</a:t>
            </a:r>
            <a:r>
              <a:rPr lang="en-US" b="true" sz="1180" spc="-31" strike="noStrike" u="none">
                <a:solidFill>
                  <a:srgbClr val="FFFFFF"/>
                </a:solidFill>
                <a:latin typeface="Open Sauce Bold"/>
                <a:ea typeface="Open Sauce Bold"/>
                <a:cs typeface="Open Sauce Bold"/>
                <a:sym typeface="Open Sauce Bold"/>
              </a:rPr>
              <a:t>ES US</a:t>
            </a:r>
            <a:r>
              <a:rPr lang="en-US" b="true" sz="1180" spc="-31" strike="noStrike" u="none">
                <a:solidFill>
                  <a:srgbClr val="FFFFFF"/>
                </a:solidFill>
                <a:latin typeface="Open Sauce Bold"/>
                <a:ea typeface="Open Sauce Bold"/>
                <a:cs typeface="Open Sauce Bold"/>
                <a:sym typeface="Open Sauce Bold"/>
              </a:rPr>
              <a:t>IN</a:t>
            </a:r>
            <a:r>
              <a:rPr lang="en-US" b="true" sz="1180" spc="-31" strike="noStrike" u="none">
                <a:solidFill>
                  <a:srgbClr val="FFFFFF"/>
                </a:solidFill>
                <a:latin typeface="Open Sauce Bold"/>
                <a:ea typeface="Open Sauce Bold"/>
                <a:cs typeface="Open Sauce Bold"/>
                <a:sym typeface="Open Sauce Bold"/>
              </a:rPr>
              <a:t>G A V</a:t>
            </a:r>
            <a:r>
              <a:rPr lang="en-US" b="true" sz="1180" spc="-31" strike="noStrike" u="none">
                <a:solidFill>
                  <a:srgbClr val="FFFFFF"/>
                </a:solidFill>
                <a:latin typeface="Open Sauce Bold"/>
                <a:ea typeface="Open Sauce Bold"/>
                <a:cs typeface="Open Sauce Bold"/>
                <a:sym typeface="Open Sauce Bold"/>
              </a:rPr>
              <a:t>E</a:t>
            </a:r>
            <a:r>
              <a:rPr lang="en-US" b="true" sz="1180" spc="-31" strike="noStrike" u="none">
                <a:solidFill>
                  <a:srgbClr val="FFFFFF"/>
                </a:solidFill>
                <a:latin typeface="Open Sauce Bold"/>
                <a:ea typeface="Open Sauce Bold"/>
                <a:cs typeface="Open Sauce Bold"/>
                <a:sym typeface="Open Sauce Bold"/>
              </a:rPr>
              <a:t>RIFIED SERVICE RULEBOOK.</a:t>
            </a:r>
          </a:p>
          <a:p>
            <a:pPr algn="ctr" marL="0" indent="0" lvl="0">
              <a:lnSpc>
                <a:spcPts val="1416"/>
              </a:lnSpc>
              <a:spcBef>
                <a:spcPct val="0"/>
              </a:spcBef>
            </a:pPr>
            <a:r>
              <a:rPr lang="en-US" b="true" sz="1180" spc="-31" strike="noStrike" u="none">
                <a:solidFill>
                  <a:srgbClr val="FFFFFF"/>
                </a:solidFill>
                <a:latin typeface="Open Sauce Bold"/>
                <a:ea typeface="Open Sauce Bold"/>
                <a:cs typeface="Open Sauce Bold"/>
                <a:sym typeface="Open Sauce Bold"/>
              </a:rPr>
              <a:t>LEARNING MODELS</a:t>
            </a:r>
          </a:p>
        </p:txBody>
      </p:sp>
      <p:sp>
        <p:nvSpPr>
          <p:cNvPr name="TextBox 54" id="54"/>
          <p:cNvSpPr txBox="true"/>
          <p:nvPr/>
        </p:nvSpPr>
        <p:spPr>
          <a:xfrm rot="0">
            <a:off x="13041076" y="7759850"/>
            <a:ext cx="3576855" cy="1326627"/>
          </a:xfrm>
          <a:prstGeom prst="rect">
            <a:avLst/>
          </a:prstGeom>
        </p:spPr>
        <p:txBody>
          <a:bodyPr anchor="t" rtlCol="false" tIns="0" lIns="0" bIns="0" rIns="0">
            <a:spAutoFit/>
          </a:bodyPr>
          <a:lstStyle/>
          <a:p>
            <a:pPr algn="ctr">
              <a:lnSpc>
                <a:spcPts val="2159"/>
              </a:lnSpc>
            </a:pPr>
            <a:r>
              <a:rPr lang="en-US" b="true" sz="1799" spc="-48">
                <a:solidFill>
                  <a:srgbClr val="FFFFFF"/>
                </a:solidFill>
                <a:latin typeface="Open Sauce Bold"/>
                <a:ea typeface="Open Sauce Bold"/>
                <a:cs typeface="Open Sauce Bold"/>
                <a:sym typeface="Open Sauce Bold"/>
              </a:rPr>
              <a:t> MAP DEPENDENCIES</a:t>
            </a:r>
          </a:p>
          <a:p>
            <a:pPr algn="ctr">
              <a:lnSpc>
                <a:spcPts val="2159"/>
              </a:lnSpc>
            </a:pPr>
            <a:r>
              <a:rPr lang="en-US" b="true" sz="1799" spc="-48">
                <a:solidFill>
                  <a:srgbClr val="FFFFFF"/>
                </a:solidFill>
                <a:latin typeface="Open Sauce Bold"/>
                <a:ea typeface="Open Sauce Bold"/>
                <a:cs typeface="Open Sauce Bold"/>
                <a:sym typeface="Open Sauce Bold"/>
              </a:rPr>
              <a:t>Determines prerequisites, identifies conflicts, and orders dependent tasks.</a:t>
            </a:r>
          </a:p>
          <a:p>
            <a:pPr algn="ctr" marL="0" indent="0" lvl="0">
              <a:lnSpc>
                <a:spcPts val="2159"/>
              </a:lnSpc>
              <a:spcBef>
                <a:spcPct val="0"/>
              </a:spcBef>
            </a:pPr>
          </a:p>
        </p:txBody>
      </p:sp>
      <p:sp>
        <p:nvSpPr>
          <p:cNvPr name="TextBox 55" id="55"/>
          <p:cNvSpPr txBox="true"/>
          <p:nvPr/>
        </p:nvSpPr>
        <p:spPr>
          <a:xfrm rot="0">
            <a:off x="3711247" y="1744439"/>
            <a:ext cx="894735" cy="490855"/>
          </a:xfrm>
          <a:prstGeom prst="rect">
            <a:avLst/>
          </a:prstGeom>
        </p:spPr>
        <p:txBody>
          <a:bodyPr anchor="t" rtlCol="false" tIns="0" lIns="0" bIns="0" rIns="0">
            <a:spAutoFit/>
          </a:bodyPr>
          <a:lstStyle/>
          <a:p>
            <a:pPr algn="ctr">
              <a:lnSpc>
                <a:spcPts val="3919"/>
              </a:lnSpc>
            </a:pPr>
            <a:r>
              <a:rPr lang="en-US" b="true" sz="2799" spc="-75">
                <a:solidFill>
                  <a:srgbClr val="FFFFFF"/>
                </a:solidFill>
                <a:latin typeface="Open Sauce Bold"/>
                <a:ea typeface="Open Sauce Bold"/>
                <a:cs typeface="Open Sauce Bold"/>
                <a:sym typeface="Open Sauce Bold"/>
              </a:rPr>
              <a:t>01</a:t>
            </a:r>
          </a:p>
        </p:txBody>
      </p:sp>
      <p:sp>
        <p:nvSpPr>
          <p:cNvPr name="TextBox 56" id="56"/>
          <p:cNvSpPr txBox="true"/>
          <p:nvPr/>
        </p:nvSpPr>
        <p:spPr>
          <a:xfrm rot="0">
            <a:off x="4271300" y="5983560"/>
            <a:ext cx="894735" cy="490855"/>
          </a:xfrm>
          <a:prstGeom prst="rect">
            <a:avLst/>
          </a:prstGeom>
        </p:spPr>
        <p:txBody>
          <a:bodyPr anchor="t" rtlCol="false" tIns="0" lIns="0" bIns="0" rIns="0">
            <a:spAutoFit/>
          </a:bodyPr>
          <a:lstStyle/>
          <a:p>
            <a:pPr algn="ctr">
              <a:lnSpc>
                <a:spcPts val="3919"/>
              </a:lnSpc>
            </a:pPr>
            <a:r>
              <a:rPr lang="en-US" b="true" sz="2799" spc="-75">
                <a:solidFill>
                  <a:srgbClr val="FFFFFF"/>
                </a:solidFill>
                <a:latin typeface="Open Sauce Bold"/>
                <a:ea typeface="Open Sauce Bold"/>
                <a:cs typeface="Open Sauce Bold"/>
                <a:sym typeface="Open Sauce Bold"/>
              </a:rPr>
              <a:t>02</a:t>
            </a:r>
          </a:p>
        </p:txBody>
      </p:sp>
      <p:sp>
        <p:nvSpPr>
          <p:cNvPr name="TextBox 57" id="57"/>
          <p:cNvSpPr txBox="true"/>
          <p:nvPr/>
        </p:nvSpPr>
        <p:spPr>
          <a:xfrm rot="0">
            <a:off x="8629123" y="6876703"/>
            <a:ext cx="894735" cy="490855"/>
          </a:xfrm>
          <a:prstGeom prst="rect">
            <a:avLst/>
          </a:prstGeom>
        </p:spPr>
        <p:txBody>
          <a:bodyPr anchor="t" rtlCol="false" tIns="0" lIns="0" bIns="0" rIns="0">
            <a:spAutoFit/>
          </a:bodyPr>
          <a:lstStyle/>
          <a:p>
            <a:pPr algn="ctr">
              <a:lnSpc>
                <a:spcPts val="3919"/>
              </a:lnSpc>
            </a:pPr>
            <a:r>
              <a:rPr lang="en-US" b="true" sz="2799" spc="-75">
                <a:solidFill>
                  <a:srgbClr val="FFFFFF"/>
                </a:solidFill>
                <a:latin typeface="Open Sauce Bold"/>
                <a:ea typeface="Open Sauce Bold"/>
                <a:cs typeface="Open Sauce Bold"/>
                <a:sym typeface="Open Sauce Bold"/>
              </a:rPr>
              <a:t>03</a:t>
            </a:r>
          </a:p>
        </p:txBody>
      </p:sp>
      <p:sp>
        <p:nvSpPr>
          <p:cNvPr name="TextBox 58" id="58"/>
          <p:cNvSpPr txBox="true"/>
          <p:nvPr/>
        </p:nvSpPr>
        <p:spPr>
          <a:xfrm rot="0">
            <a:off x="13935192" y="5729049"/>
            <a:ext cx="894735" cy="490855"/>
          </a:xfrm>
          <a:prstGeom prst="rect">
            <a:avLst/>
          </a:prstGeom>
        </p:spPr>
        <p:txBody>
          <a:bodyPr anchor="t" rtlCol="false" tIns="0" lIns="0" bIns="0" rIns="0">
            <a:spAutoFit/>
          </a:bodyPr>
          <a:lstStyle/>
          <a:p>
            <a:pPr algn="ctr">
              <a:lnSpc>
                <a:spcPts val="3919"/>
              </a:lnSpc>
            </a:pPr>
            <a:r>
              <a:rPr lang="en-US" b="true" sz="2799" spc="-75">
                <a:solidFill>
                  <a:srgbClr val="FFFFFF"/>
                </a:solidFill>
                <a:latin typeface="Open Sauce Bold"/>
                <a:ea typeface="Open Sauce Bold"/>
                <a:cs typeface="Open Sauce Bold"/>
                <a:sym typeface="Open Sauce Bold"/>
              </a:rPr>
              <a:t>04</a:t>
            </a:r>
          </a:p>
        </p:txBody>
      </p:sp>
      <p:sp>
        <p:nvSpPr>
          <p:cNvPr name="TextBox 59" id="59"/>
          <p:cNvSpPr txBox="true"/>
          <p:nvPr/>
        </p:nvSpPr>
        <p:spPr>
          <a:xfrm rot="0">
            <a:off x="13487825" y="1294338"/>
            <a:ext cx="894735" cy="490855"/>
          </a:xfrm>
          <a:prstGeom prst="rect">
            <a:avLst/>
          </a:prstGeom>
        </p:spPr>
        <p:txBody>
          <a:bodyPr anchor="t" rtlCol="false" tIns="0" lIns="0" bIns="0" rIns="0">
            <a:spAutoFit/>
          </a:bodyPr>
          <a:lstStyle/>
          <a:p>
            <a:pPr algn="ctr">
              <a:lnSpc>
                <a:spcPts val="3919"/>
              </a:lnSpc>
            </a:pPr>
            <a:r>
              <a:rPr lang="en-US" b="true" sz="2799" spc="-75">
                <a:solidFill>
                  <a:srgbClr val="FFFFFF"/>
                </a:solidFill>
                <a:latin typeface="Open Sauce Bold"/>
                <a:ea typeface="Open Sauce Bold"/>
                <a:cs typeface="Open Sauce Bold"/>
                <a:sym typeface="Open Sauce Bold"/>
              </a:rPr>
              <a:t>05</a:t>
            </a:r>
          </a:p>
        </p:txBody>
      </p:sp>
      <p:sp>
        <p:nvSpPr>
          <p:cNvPr name="TextBox 60" id="60"/>
          <p:cNvSpPr txBox="true"/>
          <p:nvPr/>
        </p:nvSpPr>
        <p:spPr>
          <a:xfrm rot="0">
            <a:off x="13487825" y="3033205"/>
            <a:ext cx="2491567" cy="1118448"/>
          </a:xfrm>
          <a:prstGeom prst="rect">
            <a:avLst/>
          </a:prstGeom>
        </p:spPr>
        <p:txBody>
          <a:bodyPr anchor="t" rtlCol="false" tIns="0" lIns="0" bIns="0" rIns="0">
            <a:spAutoFit/>
          </a:bodyPr>
          <a:lstStyle/>
          <a:p>
            <a:pPr algn="ctr">
              <a:lnSpc>
                <a:spcPts val="1504"/>
              </a:lnSpc>
            </a:pPr>
            <a:r>
              <a:rPr lang="en-US" b="true" sz="1253" spc="-33">
                <a:solidFill>
                  <a:srgbClr val="FFFFFF"/>
                </a:solidFill>
                <a:latin typeface="Open Sauce Bold"/>
                <a:ea typeface="Open Sauce Bold"/>
                <a:cs typeface="Open Sauce Bold"/>
                <a:sym typeface="Open Sauce Bold"/>
              </a:rPr>
              <a:t> GENERATE A PLAN</a:t>
            </a:r>
          </a:p>
          <a:p>
            <a:pPr algn="ctr">
              <a:lnSpc>
                <a:spcPts val="1504"/>
              </a:lnSpc>
            </a:pPr>
            <a:r>
              <a:rPr lang="en-US" b="true" sz="1253" spc="-33">
                <a:solidFill>
                  <a:srgbClr val="FFFFFF"/>
                </a:solidFill>
                <a:latin typeface="Open Sauce Bold"/>
                <a:ea typeface="Open Sauce Bold"/>
                <a:cs typeface="Open Sauce Bold"/>
                <a:sym typeface="Open Sauce Bold"/>
              </a:rPr>
              <a:t>CREATES A PERSONALISED, STEP-BY-STEP ROADMAP WITH REQUIREMENTS, DEADLINES, AND OFFICIAL SOURCES.</a:t>
            </a:r>
          </a:p>
          <a:p>
            <a:pPr algn="ctr" marL="0" indent="0" lvl="0">
              <a:lnSpc>
                <a:spcPts val="1504"/>
              </a:lnSpc>
              <a:spcBef>
                <a:spcPct val="0"/>
              </a:spcBef>
            </a:pPr>
          </a:p>
        </p:txBody>
      </p:sp>
      <p:sp>
        <p:nvSpPr>
          <p:cNvPr name="TextBox 61" id="61"/>
          <p:cNvSpPr txBox="true"/>
          <p:nvPr/>
        </p:nvSpPr>
        <p:spPr>
          <a:xfrm rot="0">
            <a:off x="8696633" y="330731"/>
            <a:ext cx="894735" cy="490855"/>
          </a:xfrm>
          <a:prstGeom prst="rect">
            <a:avLst/>
          </a:prstGeom>
        </p:spPr>
        <p:txBody>
          <a:bodyPr anchor="t" rtlCol="false" tIns="0" lIns="0" bIns="0" rIns="0">
            <a:spAutoFit/>
          </a:bodyPr>
          <a:lstStyle/>
          <a:p>
            <a:pPr algn="ctr">
              <a:lnSpc>
                <a:spcPts val="3919"/>
              </a:lnSpc>
            </a:pPr>
            <a:r>
              <a:rPr lang="en-US" b="true" sz="2799" spc="-75">
                <a:solidFill>
                  <a:srgbClr val="FFFFFF"/>
                </a:solidFill>
                <a:latin typeface="Open Sauce Bold"/>
                <a:ea typeface="Open Sauce Bold"/>
                <a:cs typeface="Open Sauce Bold"/>
                <a:sym typeface="Open Sauce Bold"/>
              </a:rPr>
              <a:t>06</a:t>
            </a:r>
          </a:p>
        </p:txBody>
      </p:sp>
      <p:sp>
        <p:nvSpPr>
          <p:cNvPr name="TextBox 62" id="62"/>
          <p:cNvSpPr txBox="true"/>
          <p:nvPr/>
        </p:nvSpPr>
        <p:spPr>
          <a:xfrm rot="0">
            <a:off x="8629123" y="2158666"/>
            <a:ext cx="2818752" cy="1254544"/>
          </a:xfrm>
          <a:prstGeom prst="rect">
            <a:avLst/>
          </a:prstGeom>
        </p:spPr>
        <p:txBody>
          <a:bodyPr anchor="t" rtlCol="false" tIns="0" lIns="0" bIns="0" rIns="0">
            <a:spAutoFit/>
          </a:bodyPr>
          <a:lstStyle/>
          <a:p>
            <a:pPr algn="ctr">
              <a:lnSpc>
                <a:spcPts val="1702"/>
              </a:lnSpc>
            </a:pPr>
            <a:r>
              <a:rPr lang="en-US" b="true" sz="1418" spc="-38">
                <a:solidFill>
                  <a:srgbClr val="FFFFFF"/>
                </a:solidFill>
                <a:latin typeface="Open Sauce Bold"/>
                <a:ea typeface="Open Sauce Bold"/>
                <a:cs typeface="Open Sauce Bold"/>
                <a:sym typeface="Open Sauce Bold"/>
              </a:rPr>
              <a:t> ADAPT &amp; TRACK</a:t>
            </a:r>
          </a:p>
          <a:p>
            <a:pPr algn="ctr">
              <a:lnSpc>
                <a:spcPts val="1702"/>
              </a:lnSpc>
            </a:pPr>
            <a:r>
              <a:rPr lang="en-US" b="true" sz="1418" spc="-38">
                <a:solidFill>
                  <a:srgbClr val="FFFFFF"/>
                </a:solidFill>
                <a:latin typeface="Open Sauce Bold"/>
                <a:ea typeface="Open Sauce Bold"/>
                <a:cs typeface="Open Sauce Bold"/>
                <a:sym typeface="Open Sauce Bold"/>
              </a:rPr>
              <a:t>UPDATES THE PLAN WHEN CIRCUMSTANCES CHANGE AND TRACKS THE CITIZEN'S PROGRESS.</a:t>
            </a:r>
          </a:p>
          <a:p>
            <a:pPr algn="ctr" marL="0" indent="0" lvl="0">
              <a:lnSpc>
                <a:spcPts val="1702"/>
              </a:lnSpc>
              <a:spcBef>
                <a:spcPct val="0"/>
              </a:spcBef>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9139238" y="4962842"/>
            <a:ext cx="9525" cy="323215"/>
          </a:xfrm>
          <a:prstGeom prst="rect">
            <a:avLst/>
          </a:prstGeom>
        </p:spPr>
        <p:txBody>
          <a:bodyPr anchor="t" rtlCol="false" tIns="0" lIns="0" bIns="0" rIns="0">
            <a:spAutoFit/>
          </a:bodyPr>
          <a:lstStyle/>
          <a:p>
            <a:pPr algn="ctr">
              <a:lnSpc>
                <a:spcPts val="2659"/>
              </a:lnSpc>
              <a:spcBef>
                <a:spcPct val="0"/>
              </a:spcBef>
            </a:pPr>
          </a:p>
        </p:txBody>
      </p:sp>
      <p:sp>
        <p:nvSpPr>
          <p:cNvPr name="TextBox 3" id="3"/>
          <p:cNvSpPr txBox="true"/>
          <p:nvPr/>
        </p:nvSpPr>
        <p:spPr>
          <a:xfrm rot="0">
            <a:off x="6228110" y="4274503"/>
            <a:ext cx="5831781"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OUR VIEW</a:t>
            </a:r>
          </a:p>
        </p:txBody>
      </p:sp>
    </p:spTree>
  </p:cSld>
  <p:clrMapOvr>
    <a:masterClrMapping/>
  </p:clrMapOvr>
  <p:transition spd="slow">
    <p:circl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028700" y="8390939"/>
            <a:ext cx="3885928" cy="867361"/>
            <a:chOff x="0" y="0"/>
            <a:chExt cx="1023493" cy="228550"/>
          </a:xfrm>
        </p:grpSpPr>
        <p:sp>
          <p:nvSpPr>
            <p:cNvPr name="Freeform 3" id="3"/>
            <p:cNvSpPr/>
            <p:nvPr/>
          </p:nvSpPr>
          <p:spPr>
            <a:xfrm flipH="false" flipV="false" rot="0">
              <a:off x="0" y="0"/>
              <a:ext cx="1023493" cy="228550"/>
            </a:xfrm>
            <a:custGeom>
              <a:avLst/>
              <a:gdLst/>
              <a:ahLst/>
              <a:cxnLst/>
              <a:rect r="r" b="b" t="t" l="l"/>
              <a:pathLst>
                <a:path h="228550" w="1023493">
                  <a:moveTo>
                    <a:pt x="1023493" y="0"/>
                  </a:moveTo>
                  <a:lnTo>
                    <a:pt x="1023493" y="228550"/>
                  </a:lnTo>
                  <a:lnTo>
                    <a:pt x="0" y="22855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4" id="4"/>
            <p:cNvSpPr txBox="true"/>
            <p:nvPr/>
          </p:nvSpPr>
          <p:spPr>
            <a:xfrm>
              <a:off x="0" y="-38100"/>
              <a:ext cx="1023493" cy="26665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7481062" y="-5983771"/>
            <a:ext cx="12057815" cy="14479909"/>
          </a:xfrm>
          <a:custGeom>
            <a:avLst/>
            <a:gdLst/>
            <a:ahLst/>
            <a:cxnLst/>
            <a:rect r="r" b="b" t="t" l="l"/>
            <a:pathLst>
              <a:path h="14479909" w="12057815">
                <a:moveTo>
                  <a:pt x="0" y="0"/>
                </a:moveTo>
                <a:lnTo>
                  <a:pt x="12057815" y="0"/>
                </a:lnTo>
                <a:lnTo>
                  <a:pt x="12057815" y="14479910"/>
                </a:lnTo>
                <a:lnTo>
                  <a:pt x="0" y="14479910"/>
                </a:lnTo>
                <a:lnTo>
                  <a:pt x="0" y="0"/>
                </a:lnTo>
                <a:close/>
              </a:path>
            </a:pathLst>
          </a:custGeom>
          <a:blipFill>
            <a:blip r:embed="rId2"/>
            <a:stretch>
              <a:fillRect l="0" t="0" r="0" b="0"/>
            </a:stretch>
          </a:blipFill>
        </p:spPr>
      </p:sp>
      <p:sp>
        <p:nvSpPr>
          <p:cNvPr name="Freeform 6" id="6"/>
          <p:cNvSpPr/>
          <p:nvPr/>
        </p:nvSpPr>
        <p:spPr>
          <a:xfrm flipH="false" flipV="false" rot="0">
            <a:off x="-7109332" y="-3861562"/>
            <a:ext cx="11314356" cy="11088069"/>
          </a:xfrm>
          <a:custGeom>
            <a:avLst/>
            <a:gdLst/>
            <a:ahLst/>
            <a:cxnLst/>
            <a:rect r="r" b="b" t="t" l="l"/>
            <a:pathLst>
              <a:path h="11088069" w="11314356">
                <a:moveTo>
                  <a:pt x="0" y="0"/>
                </a:moveTo>
                <a:lnTo>
                  <a:pt x="11314356" y="0"/>
                </a:lnTo>
                <a:lnTo>
                  <a:pt x="11314356" y="11088068"/>
                </a:lnTo>
                <a:lnTo>
                  <a:pt x="0" y="110880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624205" y="176184"/>
            <a:ext cx="11314356" cy="11088069"/>
          </a:xfrm>
          <a:custGeom>
            <a:avLst/>
            <a:gdLst/>
            <a:ahLst/>
            <a:cxnLst/>
            <a:rect r="r" b="b" t="t" l="l"/>
            <a:pathLst>
              <a:path h="11088069" w="11314356">
                <a:moveTo>
                  <a:pt x="0" y="0"/>
                </a:moveTo>
                <a:lnTo>
                  <a:pt x="11314356" y="0"/>
                </a:lnTo>
                <a:lnTo>
                  <a:pt x="11314356" y="11088069"/>
                </a:lnTo>
                <a:lnTo>
                  <a:pt x="0" y="110880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5400000">
            <a:off x="11413958" y="4678128"/>
            <a:ext cx="12057815" cy="14479909"/>
          </a:xfrm>
          <a:custGeom>
            <a:avLst/>
            <a:gdLst/>
            <a:ahLst/>
            <a:cxnLst/>
            <a:rect r="r" b="b" t="t" l="l"/>
            <a:pathLst>
              <a:path h="14479909" w="12057815">
                <a:moveTo>
                  <a:pt x="0" y="0"/>
                </a:moveTo>
                <a:lnTo>
                  <a:pt x="12057816" y="0"/>
                </a:lnTo>
                <a:lnTo>
                  <a:pt x="12057816" y="14479910"/>
                </a:lnTo>
                <a:lnTo>
                  <a:pt x="0" y="14479910"/>
                </a:lnTo>
                <a:lnTo>
                  <a:pt x="0" y="0"/>
                </a:lnTo>
                <a:close/>
              </a:path>
            </a:pathLst>
          </a:custGeom>
          <a:blipFill>
            <a:blip r:embed="rId2"/>
            <a:stretch>
              <a:fillRect l="0" t="0" r="0" b="0"/>
            </a:stretch>
          </a:blipFill>
        </p:spPr>
      </p:sp>
      <p:grpSp>
        <p:nvGrpSpPr>
          <p:cNvPr name="Group 9" id="9"/>
          <p:cNvGrpSpPr/>
          <p:nvPr/>
        </p:nvGrpSpPr>
        <p:grpSpPr>
          <a:xfrm rot="-10800000">
            <a:off x="13373372" y="1028700"/>
            <a:ext cx="3885928" cy="867361"/>
            <a:chOff x="0" y="0"/>
            <a:chExt cx="1023493" cy="228550"/>
          </a:xfrm>
        </p:grpSpPr>
        <p:sp>
          <p:nvSpPr>
            <p:cNvPr name="Freeform 10" id="10"/>
            <p:cNvSpPr/>
            <p:nvPr/>
          </p:nvSpPr>
          <p:spPr>
            <a:xfrm flipH="false" flipV="false" rot="0">
              <a:off x="0" y="0"/>
              <a:ext cx="1023493" cy="228550"/>
            </a:xfrm>
            <a:custGeom>
              <a:avLst/>
              <a:gdLst/>
              <a:ahLst/>
              <a:cxnLst/>
              <a:rect r="r" b="b" t="t" l="l"/>
              <a:pathLst>
                <a:path h="228550" w="1023493">
                  <a:moveTo>
                    <a:pt x="1023493" y="0"/>
                  </a:moveTo>
                  <a:lnTo>
                    <a:pt x="1023493" y="228550"/>
                  </a:lnTo>
                  <a:lnTo>
                    <a:pt x="0" y="22855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11" id="11"/>
            <p:cNvSpPr txBox="true"/>
            <p:nvPr/>
          </p:nvSpPr>
          <p:spPr>
            <a:xfrm>
              <a:off x="0" y="-38100"/>
              <a:ext cx="1023493" cy="266650"/>
            </a:xfrm>
            <a:prstGeom prst="rect">
              <a:avLst/>
            </a:prstGeom>
          </p:spPr>
          <p:txBody>
            <a:bodyPr anchor="ctr" rtlCol="false" tIns="50800" lIns="50800" bIns="50800" rIns="50800"/>
            <a:lstStyle/>
            <a:p>
              <a:pPr algn="ctr">
                <a:lnSpc>
                  <a:spcPts val="2659"/>
                </a:lnSpc>
                <a:spcBef>
                  <a:spcPct val="0"/>
                </a:spcBef>
              </a:pPr>
            </a:p>
          </p:txBody>
        </p:sp>
      </p:grpSp>
      <p:pic>
        <p:nvPicPr>
          <p:cNvPr name="Picture 12" id="12">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22374" r="0" b="20227"/>
          <a:stretch>
            <a:fillRect/>
          </a:stretch>
        </p:blipFill>
        <p:spPr>
          <a:xfrm flipH="false" flipV="false" rot="0">
            <a:off x="0" y="0"/>
            <a:ext cx="18288000" cy="10497062"/>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12"/>
                </p:tgtEl>
              </p:cMediaNode>
            </p:video>
          </p:childTnLst>
        </p:cTn>
      </p:par>
    </p:tnLst>
  </p:timing>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9736289" y="-6537475"/>
            <a:ext cx="11314356" cy="11088069"/>
          </a:xfrm>
          <a:custGeom>
            <a:avLst/>
            <a:gdLst/>
            <a:ahLst/>
            <a:cxnLst/>
            <a:rect r="r" b="b" t="t" l="l"/>
            <a:pathLst>
              <a:path h="11088069" w="11314356">
                <a:moveTo>
                  <a:pt x="0" y="0"/>
                </a:moveTo>
                <a:lnTo>
                  <a:pt x="11314355" y="0"/>
                </a:lnTo>
                <a:lnTo>
                  <a:pt x="11314355" y="11088069"/>
                </a:lnTo>
                <a:lnTo>
                  <a:pt x="0" y="110880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656319" y="2293438"/>
            <a:ext cx="10979040" cy="11748000"/>
          </a:xfrm>
          <a:custGeom>
            <a:avLst/>
            <a:gdLst/>
            <a:ahLst/>
            <a:cxnLst/>
            <a:rect r="r" b="b" t="t" l="l"/>
            <a:pathLst>
              <a:path h="11748000" w="10979040">
                <a:moveTo>
                  <a:pt x="0" y="0"/>
                </a:moveTo>
                <a:lnTo>
                  <a:pt x="10979040" y="0"/>
                </a:lnTo>
                <a:lnTo>
                  <a:pt x="10979040" y="11748000"/>
                </a:lnTo>
                <a:lnTo>
                  <a:pt x="0" y="11748000"/>
                </a:lnTo>
                <a:lnTo>
                  <a:pt x="0" y="0"/>
                </a:lnTo>
                <a:close/>
              </a:path>
            </a:pathLst>
          </a:custGeom>
          <a:blipFill>
            <a:blip r:embed="rId4"/>
            <a:stretch>
              <a:fillRect l="0" t="0" r="0" b="0"/>
            </a:stretch>
          </a:blipFill>
        </p:spPr>
      </p:sp>
      <p:sp>
        <p:nvSpPr>
          <p:cNvPr name="Freeform 4" id="4"/>
          <p:cNvSpPr/>
          <p:nvPr/>
        </p:nvSpPr>
        <p:spPr>
          <a:xfrm flipH="false" flipV="false" rot="0">
            <a:off x="-6592942" y="3783460"/>
            <a:ext cx="12057815" cy="14479909"/>
          </a:xfrm>
          <a:custGeom>
            <a:avLst/>
            <a:gdLst/>
            <a:ahLst/>
            <a:cxnLst/>
            <a:rect r="r" b="b" t="t" l="l"/>
            <a:pathLst>
              <a:path h="14479909" w="12057815">
                <a:moveTo>
                  <a:pt x="0" y="0"/>
                </a:moveTo>
                <a:lnTo>
                  <a:pt x="12057815" y="0"/>
                </a:lnTo>
                <a:lnTo>
                  <a:pt x="12057815" y="14479909"/>
                </a:lnTo>
                <a:lnTo>
                  <a:pt x="0" y="14479909"/>
                </a:lnTo>
                <a:lnTo>
                  <a:pt x="0" y="0"/>
                </a:lnTo>
                <a:close/>
              </a:path>
            </a:pathLst>
          </a:custGeom>
          <a:blipFill>
            <a:blip r:embed="rId5"/>
            <a:stretch>
              <a:fillRect l="0" t="0" r="0" b="0"/>
            </a:stretch>
          </a:blipFill>
        </p:spPr>
      </p:sp>
      <p:grpSp>
        <p:nvGrpSpPr>
          <p:cNvPr name="Group 5" id="5"/>
          <p:cNvGrpSpPr/>
          <p:nvPr/>
        </p:nvGrpSpPr>
        <p:grpSpPr>
          <a:xfrm rot="0">
            <a:off x="1693711" y="1028700"/>
            <a:ext cx="2977208" cy="867361"/>
            <a:chOff x="0" y="0"/>
            <a:chExt cx="784150" cy="228550"/>
          </a:xfrm>
        </p:grpSpPr>
        <p:sp>
          <p:nvSpPr>
            <p:cNvPr name="Freeform 6" id="6"/>
            <p:cNvSpPr/>
            <p:nvPr/>
          </p:nvSpPr>
          <p:spPr>
            <a:xfrm flipH="false" flipV="false" rot="0">
              <a:off x="0" y="0"/>
              <a:ext cx="784150" cy="228550"/>
            </a:xfrm>
            <a:custGeom>
              <a:avLst/>
              <a:gdLst/>
              <a:ahLst/>
              <a:cxnLst/>
              <a:rect r="r" b="b" t="t" l="l"/>
              <a:pathLst>
                <a:path h="228550" w="784150">
                  <a:moveTo>
                    <a:pt x="784150" y="0"/>
                  </a:moveTo>
                  <a:lnTo>
                    <a:pt x="784150" y="228550"/>
                  </a:lnTo>
                  <a:lnTo>
                    <a:pt x="0" y="22855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7" id="7"/>
            <p:cNvSpPr txBox="true"/>
            <p:nvPr/>
          </p:nvSpPr>
          <p:spPr>
            <a:xfrm>
              <a:off x="0" y="-38100"/>
              <a:ext cx="784150" cy="26665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45980" y="6484360"/>
            <a:ext cx="717265" cy="971664"/>
          </a:xfrm>
          <a:custGeom>
            <a:avLst/>
            <a:gdLst/>
            <a:ahLst/>
            <a:cxnLst/>
            <a:rect r="r" b="b" t="t" l="l"/>
            <a:pathLst>
              <a:path h="971664" w="717265">
                <a:moveTo>
                  <a:pt x="0" y="0"/>
                </a:moveTo>
                <a:lnTo>
                  <a:pt x="717264" y="0"/>
                </a:lnTo>
                <a:lnTo>
                  <a:pt x="717264" y="971664"/>
                </a:lnTo>
                <a:lnTo>
                  <a:pt x="0" y="9716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623661" y="5609976"/>
            <a:ext cx="1268902" cy="914667"/>
          </a:xfrm>
          <a:custGeom>
            <a:avLst/>
            <a:gdLst/>
            <a:ahLst/>
            <a:cxnLst/>
            <a:rect r="r" b="b" t="t" l="l"/>
            <a:pathLst>
              <a:path h="914667" w="1268902">
                <a:moveTo>
                  <a:pt x="0" y="0"/>
                </a:moveTo>
                <a:lnTo>
                  <a:pt x="1268902" y="0"/>
                </a:lnTo>
                <a:lnTo>
                  <a:pt x="1268902" y="914667"/>
                </a:lnTo>
                <a:lnTo>
                  <a:pt x="0" y="914667"/>
                </a:lnTo>
                <a:lnTo>
                  <a:pt x="0" y="0"/>
                </a:lnTo>
                <a:close/>
              </a:path>
            </a:pathLst>
          </a:custGeom>
          <a:blipFill>
            <a:blip r:embed="rId8"/>
            <a:stretch>
              <a:fillRect l="0" t="0" r="0" b="0"/>
            </a:stretch>
          </a:blipFill>
        </p:spPr>
      </p:sp>
      <p:sp>
        <p:nvSpPr>
          <p:cNvPr name="Freeform 10" id="10"/>
          <p:cNvSpPr/>
          <p:nvPr/>
        </p:nvSpPr>
        <p:spPr>
          <a:xfrm flipH="false" flipV="false" rot="0">
            <a:off x="10501927" y="5604280"/>
            <a:ext cx="745287" cy="948861"/>
          </a:xfrm>
          <a:custGeom>
            <a:avLst/>
            <a:gdLst/>
            <a:ahLst/>
            <a:cxnLst/>
            <a:rect r="r" b="b" t="t" l="l"/>
            <a:pathLst>
              <a:path h="948861" w="745287">
                <a:moveTo>
                  <a:pt x="0" y="0"/>
                </a:moveTo>
                <a:lnTo>
                  <a:pt x="745287" y="0"/>
                </a:lnTo>
                <a:lnTo>
                  <a:pt x="745287" y="948861"/>
                </a:lnTo>
                <a:lnTo>
                  <a:pt x="0" y="9488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4343522" y="6507163"/>
            <a:ext cx="767715" cy="948861"/>
          </a:xfrm>
          <a:custGeom>
            <a:avLst/>
            <a:gdLst/>
            <a:ahLst/>
            <a:cxnLst/>
            <a:rect r="r" b="b" t="t" l="l"/>
            <a:pathLst>
              <a:path h="948861" w="767715">
                <a:moveTo>
                  <a:pt x="0" y="0"/>
                </a:moveTo>
                <a:lnTo>
                  <a:pt x="767715" y="0"/>
                </a:lnTo>
                <a:lnTo>
                  <a:pt x="767715" y="948861"/>
                </a:lnTo>
                <a:lnTo>
                  <a:pt x="0" y="94886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1693711" y="1949360"/>
            <a:ext cx="10637348" cy="1726458"/>
          </a:xfrm>
          <a:prstGeom prst="rect">
            <a:avLst/>
          </a:prstGeom>
        </p:spPr>
        <p:txBody>
          <a:bodyPr anchor="t" rtlCol="false" tIns="0" lIns="0" bIns="0" rIns="0">
            <a:spAutoFit/>
          </a:bodyPr>
          <a:lstStyle/>
          <a:p>
            <a:pPr algn="just">
              <a:lnSpc>
                <a:spcPts val="14040"/>
              </a:lnSpc>
            </a:pPr>
            <a:r>
              <a:rPr lang="en-US" b="true" sz="10029" spc="-712">
                <a:solidFill>
                  <a:srgbClr val="FFFFFF"/>
                </a:solidFill>
                <a:latin typeface="Chakra Petch Bold"/>
                <a:ea typeface="Chakra Petch Bold"/>
                <a:cs typeface="Chakra Petch Bold"/>
                <a:sym typeface="Chakra Petch Bold"/>
              </a:rPr>
              <a:t>CHALLENGE</a:t>
            </a:r>
            <a:r>
              <a:rPr lang="en-US" b="true" sz="10029" spc="-712">
                <a:solidFill>
                  <a:srgbClr val="FFFFFF"/>
                </a:solidFill>
                <a:latin typeface="Chakra Petch Bold"/>
                <a:ea typeface="Chakra Petch Bold"/>
                <a:cs typeface="Chakra Petch Bold"/>
                <a:sym typeface="Chakra Petch Bold"/>
              </a:rPr>
              <a:t>S</a:t>
            </a:r>
          </a:p>
        </p:txBody>
      </p:sp>
      <p:sp>
        <p:nvSpPr>
          <p:cNvPr name="TextBox 13" id="13"/>
          <p:cNvSpPr txBox="true"/>
          <p:nvPr/>
        </p:nvSpPr>
        <p:spPr>
          <a:xfrm rot="0">
            <a:off x="9362472" y="6768715"/>
            <a:ext cx="3128803" cy="1600200"/>
          </a:xfrm>
          <a:prstGeom prst="rect">
            <a:avLst/>
          </a:prstGeom>
        </p:spPr>
        <p:txBody>
          <a:bodyPr anchor="t" rtlCol="false" tIns="0" lIns="0" bIns="0" rIns="0">
            <a:spAutoFit/>
          </a:bodyPr>
          <a:lstStyle/>
          <a:p>
            <a:pPr algn="ctr" marL="0" indent="0" lvl="0">
              <a:lnSpc>
                <a:spcPts val="2160"/>
              </a:lnSpc>
              <a:spcBef>
                <a:spcPct val="0"/>
              </a:spcBef>
            </a:pPr>
            <a:r>
              <a:rPr lang="en-US" b="true" sz="1800" spc="-48" strike="noStrike" u="none">
                <a:solidFill>
                  <a:srgbClr val="FFFFFF"/>
                </a:solidFill>
                <a:latin typeface="Open Sauce Bold"/>
                <a:ea typeface="Open Sauce Bold"/>
                <a:cs typeface="Open Sauce Bold"/>
                <a:sym typeface="Open Sauce Bold"/>
              </a:rPr>
              <a:t>BIAS IN </a:t>
            </a:r>
          </a:p>
          <a:p>
            <a:pPr algn="ctr" marL="0" indent="0" lvl="0">
              <a:lnSpc>
                <a:spcPts val="2160"/>
              </a:lnSpc>
              <a:spcBef>
                <a:spcPct val="0"/>
              </a:spcBef>
            </a:pPr>
            <a:r>
              <a:rPr lang="en-US" b="true" sz="1800" spc="-48" strike="noStrike" u="none">
                <a:solidFill>
                  <a:srgbClr val="FFFFFF"/>
                </a:solidFill>
                <a:latin typeface="Open Sauce Bold"/>
                <a:ea typeface="Open Sauce Bold"/>
                <a:cs typeface="Open Sauce Bold"/>
                <a:sym typeface="Open Sauce Bold"/>
              </a:rPr>
              <a:t> COMPLEX DEPENDENCIES</a:t>
            </a:r>
          </a:p>
          <a:p>
            <a:pPr algn="ctr" marL="0" indent="0" lvl="0">
              <a:lnSpc>
                <a:spcPts val="2160"/>
              </a:lnSpc>
              <a:spcBef>
                <a:spcPct val="0"/>
              </a:spcBef>
            </a:pPr>
            <a:r>
              <a:rPr lang="en-US" b="true" sz="1800" spc="-48" strike="noStrike" u="none">
                <a:solidFill>
                  <a:srgbClr val="FFFFFF"/>
                </a:solidFill>
                <a:latin typeface="Open Sauce Bold"/>
                <a:ea typeface="Open Sauce Bold"/>
                <a:cs typeface="Open Sauce Bold"/>
                <a:sym typeface="Open Sauce Bold"/>
              </a:rPr>
              <a:t>UNCLE</a:t>
            </a:r>
            <a:r>
              <a:rPr lang="en-US" b="true" sz="1800" spc="-48" strike="noStrike" u="none">
                <a:solidFill>
                  <a:srgbClr val="FFFFFF"/>
                </a:solidFill>
                <a:latin typeface="Open Sauce Bold"/>
                <a:ea typeface="Open Sauce Bold"/>
                <a:cs typeface="Open Sauce Bold"/>
                <a:sym typeface="Open Sauce Bold"/>
              </a:rPr>
              <a:t>A</a:t>
            </a:r>
            <a:r>
              <a:rPr lang="en-US" b="true" sz="1800" spc="-48" strike="noStrike" u="none">
                <a:solidFill>
                  <a:srgbClr val="FFFFFF"/>
                </a:solidFill>
                <a:latin typeface="Open Sauce Bold"/>
                <a:ea typeface="Open Sauce Bold"/>
                <a:cs typeface="Open Sauce Bold"/>
                <a:sym typeface="Open Sauce Bold"/>
              </a:rPr>
              <a:t>R PREREQUISITES AND THE CORRECT </a:t>
            </a:r>
            <a:r>
              <a:rPr lang="en-US" b="true" sz="1800" spc="-48" strike="noStrike" u="none">
                <a:solidFill>
                  <a:srgbClr val="FFFFFF"/>
                </a:solidFill>
                <a:latin typeface="Open Sauce Bold"/>
                <a:ea typeface="Open Sauce Bold"/>
                <a:cs typeface="Open Sauce Bold"/>
                <a:sym typeface="Open Sauce Bold"/>
              </a:rPr>
              <a:t>OR</a:t>
            </a:r>
            <a:r>
              <a:rPr lang="en-US" b="true" sz="1800" spc="-48" strike="noStrike" u="none">
                <a:solidFill>
                  <a:srgbClr val="FFFFFF"/>
                </a:solidFill>
                <a:latin typeface="Open Sauce Bold"/>
                <a:ea typeface="Open Sauce Bold"/>
                <a:cs typeface="Open Sauce Bold"/>
                <a:sym typeface="Open Sauce Bold"/>
              </a:rPr>
              <a:t>DER OF APPL</a:t>
            </a:r>
            <a:r>
              <a:rPr lang="en-US" b="true" sz="1800" spc="-48" strike="noStrike" u="none">
                <a:solidFill>
                  <a:srgbClr val="FFFFFF"/>
                </a:solidFill>
                <a:latin typeface="Open Sauce Bold"/>
                <a:ea typeface="Open Sauce Bold"/>
                <a:cs typeface="Open Sauce Bold"/>
                <a:sym typeface="Open Sauce Bold"/>
              </a:rPr>
              <a:t>I</a:t>
            </a:r>
            <a:r>
              <a:rPr lang="en-US" b="true" sz="1800" spc="-48" strike="noStrike" u="none">
                <a:solidFill>
                  <a:srgbClr val="FFFFFF"/>
                </a:solidFill>
                <a:latin typeface="Open Sauce Bold"/>
                <a:ea typeface="Open Sauce Bold"/>
                <a:cs typeface="Open Sauce Bold"/>
                <a:sym typeface="Open Sauce Bold"/>
              </a:rPr>
              <a:t>CA</a:t>
            </a:r>
            <a:r>
              <a:rPr lang="en-US" b="true" sz="1800" spc="-48" strike="noStrike" u="none">
                <a:solidFill>
                  <a:srgbClr val="FFFFFF"/>
                </a:solidFill>
                <a:latin typeface="Open Sauce Bold"/>
                <a:ea typeface="Open Sauce Bold"/>
                <a:cs typeface="Open Sauce Bold"/>
                <a:sym typeface="Open Sauce Bold"/>
              </a:rPr>
              <a:t>T</a:t>
            </a:r>
            <a:r>
              <a:rPr lang="en-US" b="true" sz="1800" spc="-48" strike="noStrike" u="none">
                <a:solidFill>
                  <a:srgbClr val="FFFFFF"/>
                </a:solidFill>
                <a:latin typeface="Open Sauce Bold"/>
                <a:ea typeface="Open Sauce Bold"/>
                <a:cs typeface="Open Sauce Bold"/>
                <a:sym typeface="Open Sauce Bold"/>
              </a:rPr>
              <a:t>ION</a:t>
            </a:r>
            <a:r>
              <a:rPr lang="en-US" b="true" sz="1800" spc="-48" strike="noStrike" u="none">
                <a:solidFill>
                  <a:srgbClr val="FFFFFF"/>
                </a:solidFill>
                <a:latin typeface="Open Sauce Bold"/>
                <a:ea typeface="Open Sauce Bold"/>
                <a:cs typeface="Open Sauce Bold"/>
                <a:sym typeface="Open Sauce Bold"/>
              </a:rPr>
              <a:t>S</a:t>
            </a:r>
            <a:r>
              <a:rPr lang="en-US" b="true" sz="1800" spc="-48" strike="noStrike" u="none">
                <a:solidFill>
                  <a:srgbClr val="FFFFFF"/>
                </a:solidFill>
                <a:latin typeface="Open Sauce Bold"/>
                <a:ea typeface="Open Sauce Bold"/>
                <a:cs typeface="Open Sauce Bold"/>
                <a:sym typeface="Open Sauce Bold"/>
              </a:rPr>
              <a:t>.</a:t>
            </a:r>
          </a:p>
          <a:p>
            <a:pPr algn="ctr" marL="0" indent="0" lvl="0">
              <a:lnSpc>
                <a:spcPts val="2160"/>
              </a:lnSpc>
              <a:spcBef>
                <a:spcPct val="0"/>
              </a:spcBef>
            </a:pPr>
          </a:p>
        </p:txBody>
      </p:sp>
      <p:sp>
        <p:nvSpPr>
          <p:cNvPr name="TextBox 14" id="14"/>
          <p:cNvSpPr txBox="true"/>
          <p:nvPr/>
        </p:nvSpPr>
        <p:spPr>
          <a:xfrm rot="0">
            <a:off x="5758925" y="8116288"/>
            <a:ext cx="2715613" cy="1371600"/>
          </a:xfrm>
          <a:prstGeom prst="rect">
            <a:avLst/>
          </a:prstGeom>
        </p:spPr>
        <p:txBody>
          <a:bodyPr anchor="t" rtlCol="false" tIns="0" lIns="0" bIns="0" rIns="0">
            <a:spAutoFit/>
          </a:bodyPr>
          <a:lstStyle/>
          <a:p>
            <a:pPr algn="ctr" marL="0" indent="0" lvl="0">
              <a:lnSpc>
                <a:spcPts val="1802"/>
              </a:lnSpc>
              <a:spcBef>
                <a:spcPct val="0"/>
              </a:spcBef>
            </a:pPr>
            <a:r>
              <a:rPr lang="en-US" b="true" sz="1501" spc="-40">
                <a:solidFill>
                  <a:srgbClr val="FFFFFF"/>
                </a:solidFill>
                <a:latin typeface="Open Sauce Bold"/>
                <a:ea typeface="Open Sauce Bold"/>
                <a:cs typeface="Open Sauce Bold"/>
                <a:sym typeface="Open Sauce Bold"/>
              </a:rPr>
              <a:t>FRAGMENTE</a:t>
            </a:r>
            <a:r>
              <a:rPr lang="en-US" b="true" sz="1501" spc="-40" strike="noStrike" u="none">
                <a:solidFill>
                  <a:srgbClr val="FFFFFF"/>
                </a:solidFill>
                <a:latin typeface="Open Sauce Bold"/>
                <a:ea typeface="Open Sauce Bold"/>
                <a:cs typeface="Open Sauce Bold"/>
                <a:sym typeface="Open Sauce Bold"/>
              </a:rPr>
              <a:t>D</a:t>
            </a:r>
            <a:r>
              <a:rPr lang="en-US" b="true" sz="1501" spc="-40" strike="noStrike" u="none">
                <a:solidFill>
                  <a:srgbClr val="FFFFFF"/>
                </a:solidFill>
                <a:latin typeface="Open Sauce Bold"/>
                <a:ea typeface="Open Sauce Bold"/>
                <a:cs typeface="Open Sauce Bold"/>
                <a:sym typeface="Open Sauce Bold"/>
              </a:rPr>
              <a:t> SERVICES</a:t>
            </a:r>
          </a:p>
          <a:p>
            <a:pPr algn="ctr" marL="0" indent="0" lvl="0">
              <a:lnSpc>
                <a:spcPts val="1802"/>
              </a:lnSpc>
              <a:spcBef>
                <a:spcPct val="0"/>
              </a:spcBef>
            </a:pPr>
            <a:r>
              <a:rPr lang="en-US" b="true" sz="1501" spc="-40" strike="noStrike" u="none">
                <a:solidFill>
                  <a:srgbClr val="FFFFFF"/>
                </a:solidFill>
                <a:latin typeface="Open Sauce Bold"/>
                <a:ea typeface="Open Sauce Bold"/>
                <a:cs typeface="Open Sauce Bold"/>
                <a:sym typeface="Open Sauce Bold"/>
              </a:rPr>
              <a:t>INFORMATION SPREAD ACROSS MULTIPLE DEPARTMENTS AND PORTALS.</a:t>
            </a:r>
          </a:p>
          <a:p>
            <a:pPr algn="ctr" marL="0" indent="0" lvl="0">
              <a:lnSpc>
                <a:spcPts val="1802"/>
              </a:lnSpc>
              <a:spcBef>
                <a:spcPct val="0"/>
              </a:spcBef>
            </a:pPr>
          </a:p>
        </p:txBody>
      </p:sp>
      <p:sp>
        <p:nvSpPr>
          <p:cNvPr name="TextBox 15" id="15"/>
          <p:cNvSpPr txBox="true"/>
          <p:nvPr/>
        </p:nvSpPr>
        <p:spPr>
          <a:xfrm rot="0">
            <a:off x="13405675" y="8016062"/>
            <a:ext cx="3128803" cy="1600200"/>
          </a:xfrm>
          <a:prstGeom prst="rect">
            <a:avLst/>
          </a:prstGeom>
        </p:spPr>
        <p:txBody>
          <a:bodyPr anchor="t" rtlCol="false" tIns="0" lIns="0" bIns="0" rIns="0">
            <a:spAutoFit/>
          </a:bodyPr>
          <a:lstStyle/>
          <a:p>
            <a:pPr algn="ctr">
              <a:lnSpc>
                <a:spcPts val="2160"/>
              </a:lnSpc>
            </a:pPr>
            <a:r>
              <a:rPr lang="en-US" b="true" sz="1800" spc="-48">
                <a:solidFill>
                  <a:srgbClr val="FFFFFF"/>
                </a:solidFill>
                <a:latin typeface="Open Sauce Bold"/>
                <a:ea typeface="Open Sauce Bold"/>
                <a:cs typeface="Open Sauce Bold"/>
                <a:sym typeface="Open Sauce Bold"/>
              </a:rPr>
              <a:t>CHANGING CIRCUMSTANCES</a:t>
            </a:r>
          </a:p>
          <a:p>
            <a:pPr algn="ctr" marL="0" indent="0" lvl="0">
              <a:lnSpc>
                <a:spcPts val="2160"/>
              </a:lnSpc>
              <a:spcBef>
                <a:spcPct val="0"/>
              </a:spcBef>
            </a:pPr>
            <a:r>
              <a:rPr lang="en-US" b="true" sz="1800" spc="-48">
                <a:solidFill>
                  <a:srgbClr val="FFFFFF"/>
                </a:solidFill>
                <a:latin typeface="Open Sauce Bold"/>
                <a:ea typeface="Open Sauce Bold"/>
                <a:cs typeface="Open Sauce Bold"/>
                <a:sym typeface="Open Sauce Bold"/>
              </a:rPr>
              <a:t>Lif</a:t>
            </a:r>
            <a:r>
              <a:rPr lang="en-US" b="true" sz="1800" spc="-48" strike="noStrike" u="none">
                <a:solidFill>
                  <a:srgbClr val="FFFFFF"/>
                </a:solidFill>
                <a:latin typeface="Open Sauce Bold"/>
                <a:ea typeface="Open Sauce Bold"/>
                <a:cs typeface="Open Sauce Bold"/>
                <a:sym typeface="Open Sauce Bold"/>
              </a:rPr>
              <a:t>E</a:t>
            </a:r>
            <a:r>
              <a:rPr lang="en-US" b="true" sz="1800" spc="-48" strike="noStrike" u="none">
                <a:solidFill>
                  <a:srgbClr val="FFFFFF"/>
                </a:solidFill>
                <a:latin typeface="Open Sauce Bold"/>
                <a:ea typeface="Open Sauce Bold"/>
                <a:cs typeface="Open Sauce Bold"/>
                <a:sym typeface="Open Sauce Bold"/>
              </a:rPr>
              <a:t> EV</a:t>
            </a:r>
            <a:r>
              <a:rPr lang="en-US" b="true" sz="1800" spc="-48" strike="noStrike" u="none">
                <a:solidFill>
                  <a:srgbClr val="FFFFFF"/>
                </a:solidFill>
                <a:latin typeface="Open Sauce Bold"/>
                <a:ea typeface="Open Sauce Bold"/>
                <a:cs typeface="Open Sauce Bold"/>
                <a:sym typeface="Open Sauce Bold"/>
              </a:rPr>
              <a:t>EN</a:t>
            </a:r>
            <a:r>
              <a:rPr lang="en-US" b="true" sz="1800" spc="-48" strike="noStrike" u="none">
                <a:solidFill>
                  <a:srgbClr val="FFFFFF"/>
                </a:solidFill>
                <a:latin typeface="Open Sauce Bold"/>
                <a:ea typeface="Open Sauce Bold"/>
                <a:cs typeface="Open Sauce Bold"/>
                <a:sym typeface="Open Sauce Bold"/>
              </a:rPr>
              <a:t>TS CA</a:t>
            </a:r>
            <a:r>
              <a:rPr lang="en-US" b="true" sz="1800" spc="-48" strike="noStrike" u="none">
                <a:solidFill>
                  <a:srgbClr val="FFFFFF"/>
                </a:solidFill>
                <a:latin typeface="Open Sauce Bold"/>
                <a:ea typeface="Open Sauce Bold"/>
                <a:cs typeface="Open Sauce Bold"/>
                <a:sym typeface="Open Sauce Bold"/>
              </a:rPr>
              <a:t>N</a:t>
            </a:r>
            <a:r>
              <a:rPr lang="en-US" b="true" sz="1800" spc="-48" strike="noStrike" u="none">
                <a:solidFill>
                  <a:srgbClr val="FFFFFF"/>
                </a:solidFill>
                <a:latin typeface="Open Sauce Bold"/>
                <a:ea typeface="Open Sauce Bold"/>
                <a:cs typeface="Open Sauce Bold"/>
                <a:sym typeface="Open Sauce Bold"/>
              </a:rPr>
              <a:t> </a:t>
            </a:r>
            <a:r>
              <a:rPr lang="en-US" b="true" sz="1800" spc="-48" strike="noStrike" u="none">
                <a:solidFill>
                  <a:srgbClr val="FFFFFF"/>
                </a:solidFill>
                <a:latin typeface="Open Sauce Bold"/>
                <a:ea typeface="Open Sauce Bold"/>
                <a:cs typeface="Open Sauce Bold"/>
                <a:sym typeface="Open Sauce Bold"/>
              </a:rPr>
              <a:t>C</a:t>
            </a:r>
            <a:r>
              <a:rPr lang="en-US" b="true" sz="1800" spc="-48" strike="noStrike" u="none">
                <a:solidFill>
                  <a:srgbClr val="FFFFFF"/>
                </a:solidFill>
                <a:latin typeface="Open Sauce Bold"/>
                <a:ea typeface="Open Sauce Bold"/>
                <a:cs typeface="Open Sauce Bold"/>
                <a:sym typeface="Open Sauce Bold"/>
              </a:rPr>
              <a:t>HANG</a:t>
            </a:r>
            <a:r>
              <a:rPr lang="en-US" b="true" sz="1800" spc="-48" strike="noStrike" u="none">
                <a:solidFill>
                  <a:srgbClr val="FFFFFF"/>
                </a:solidFill>
                <a:latin typeface="Open Sauce Bold"/>
                <a:ea typeface="Open Sauce Bold"/>
                <a:cs typeface="Open Sauce Bold"/>
                <a:sym typeface="Open Sauce Bold"/>
              </a:rPr>
              <a:t>E</a:t>
            </a:r>
            <a:r>
              <a:rPr lang="en-US" b="true" sz="1800" spc="-48" strike="noStrike" u="none">
                <a:solidFill>
                  <a:srgbClr val="FFFFFF"/>
                </a:solidFill>
                <a:latin typeface="Open Sauce Bold"/>
                <a:ea typeface="Open Sauce Bold"/>
                <a:cs typeface="Open Sauce Bold"/>
                <a:sym typeface="Open Sauce Bold"/>
              </a:rPr>
              <a:t> REQUIREMENTS AND DISRUPT EXISTING PLANS</a:t>
            </a:r>
          </a:p>
          <a:p>
            <a:pPr algn="ctr" marL="0" indent="0" lvl="0">
              <a:lnSpc>
                <a:spcPts val="2160"/>
              </a:lnSpc>
              <a:spcBef>
                <a:spcPct val="0"/>
              </a:spcBef>
            </a:pPr>
          </a:p>
        </p:txBody>
      </p:sp>
      <p:sp>
        <p:nvSpPr>
          <p:cNvPr name="TextBox 16" id="16"/>
          <p:cNvSpPr txBox="true"/>
          <p:nvPr/>
        </p:nvSpPr>
        <p:spPr>
          <a:xfrm rot="0">
            <a:off x="1693711" y="3932993"/>
            <a:ext cx="6550722" cy="1227201"/>
          </a:xfrm>
          <a:prstGeom prst="rect">
            <a:avLst/>
          </a:prstGeom>
        </p:spPr>
        <p:txBody>
          <a:bodyPr anchor="t" rtlCol="false" tIns="0" lIns="0" bIns="0" rIns="0">
            <a:spAutoFit/>
          </a:bodyPr>
          <a:lstStyle/>
          <a:p>
            <a:pPr algn="l">
              <a:lnSpc>
                <a:spcPts val="2457"/>
              </a:lnSpc>
            </a:pPr>
            <a:r>
              <a:rPr lang="en-US" sz="2100" spc="-52">
                <a:solidFill>
                  <a:srgbClr val="FFFFFF"/>
                </a:solidFill>
                <a:latin typeface="Open Sauce"/>
                <a:ea typeface="Open Sauce"/>
                <a:cs typeface="Open Sauce"/>
                <a:sym typeface="Open Sauce"/>
              </a:rPr>
              <a:t>Citizens face complex procedures, fragment</a:t>
            </a:r>
            <a:r>
              <a:rPr lang="en-US" sz="2100" spc="-52">
                <a:solidFill>
                  <a:srgbClr val="FFFFFF"/>
                </a:solidFill>
                <a:latin typeface="Open Sauce"/>
                <a:ea typeface="Open Sauce"/>
                <a:cs typeface="Open Sauce"/>
                <a:sym typeface="Open Sauce"/>
              </a:rPr>
              <a:t>ed information, and interconnected requirements when accessing government services.</a:t>
            </a:r>
          </a:p>
          <a:p>
            <a:pPr algn="l">
              <a:lnSpc>
                <a:spcPts val="2457"/>
              </a:lnSpc>
            </a:pPr>
          </a:p>
        </p:txBody>
      </p:sp>
      <p:sp>
        <p:nvSpPr>
          <p:cNvPr name="AutoShape 17" id="17"/>
          <p:cNvSpPr/>
          <p:nvPr/>
        </p:nvSpPr>
        <p:spPr>
          <a:xfrm flipV="true">
            <a:off x="4846752" y="6484360"/>
            <a:ext cx="706305" cy="0"/>
          </a:xfrm>
          <a:prstGeom prst="line">
            <a:avLst/>
          </a:prstGeom>
          <a:ln cap="flat" w="66675">
            <a:gradFill>
              <a:gsLst>
                <a:gs pos="0">
                  <a:srgbClr val="3D5FD5">
                    <a:alpha val="56500"/>
                  </a:srgbClr>
                </a:gs>
                <a:gs pos="33333">
                  <a:srgbClr val="3D60D5">
                    <a:alpha val="100000"/>
                  </a:srgbClr>
                </a:gs>
                <a:gs pos="66667">
                  <a:srgbClr val="1800AD">
                    <a:alpha val="100000"/>
                  </a:srgbClr>
                </a:gs>
                <a:gs pos="100000">
                  <a:srgbClr val="1800AD">
                    <a:alpha val="100000"/>
                  </a:srgbClr>
                </a:gs>
              </a:gsLst>
              <a:lin ang="0"/>
            </a:gradFill>
            <a:prstDash val="solid"/>
            <a:headEnd type="none" len="sm" w="sm"/>
            <a:tailEnd type="triangle" len="med" w="lg"/>
          </a:ln>
        </p:spPr>
      </p:sp>
      <p:sp>
        <p:nvSpPr>
          <p:cNvPr name="AutoShape 18" id="18"/>
          <p:cNvSpPr/>
          <p:nvPr/>
        </p:nvSpPr>
        <p:spPr>
          <a:xfrm flipV="true">
            <a:off x="8657622" y="6129145"/>
            <a:ext cx="706305" cy="0"/>
          </a:xfrm>
          <a:prstGeom prst="line">
            <a:avLst/>
          </a:prstGeom>
          <a:ln cap="flat" w="66675">
            <a:gradFill>
              <a:gsLst>
                <a:gs pos="0">
                  <a:srgbClr val="3D5FD5">
                    <a:alpha val="56500"/>
                  </a:srgbClr>
                </a:gs>
                <a:gs pos="33333">
                  <a:srgbClr val="3D60D5">
                    <a:alpha val="100000"/>
                  </a:srgbClr>
                </a:gs>
                <a:gs pos="66667">
                  <a:srgbClr val="1800AD">
                    <a:alpha val="100000"/>
                  </a:srgbClr>
                </a:gs>
                <a:gs pos="100000">
                  <a:srgbClr val="1800AD">
                    <a:alpha val="100000"/>
                  </a:srgbClr>
                </a:gs>
              </a:gsLst>
              <a:lin ang="0"/>
            </a:gradFill>
            <a:prstDash val="solid"/>
            <a:headEnd type="none" len="sm" w="sm"/>
            <a:tailEnd type="triangle" len="med" w="lg"/>
          </a:ln>
        </p:spPr>
      </p:sp>
      <p:sp>
        <p:nvSpPr>
          <p:cNvPr name="AutoShape 19" id="19"/>
          <p:cNvSpPr/>
          <p:nvPr/>
        </p:nvSpPr>
        <p:spPr>
          <a:xfrm flipV="true">
            <a:off x="12491275" y="6451022"/>
            <a:ext cx="706305" cy="0"/>
          </a:xfrm>
          <a:prstGeom prst="line">
            <a:avLst/>
          </a:prstGeom>
          <a:ln cap="flat" w="66675">
            <a:gradFill>
              <a:gsLst>
                <a:gs pos="0">
                  <a:srgbClr val="3D5FD5">
                    <a:alpha val="56500"/>
                  </a:srgbClr>
                </a:gs>
                <a:gs pos="33333">
                  <a:srgbClr val="3D60D5">
                    <a:alpha val="100000"/>
                  </a:srgbClr>
                </a:gs>
                <a:gs pos="66667">
                  <a:srgbClr val="1800AD">
                    <a:alpha val="100000"/>
                  </a:srgbClr>
                </a:gs>
                <a:gs pos="100000">
                  <a:srgbClr val="1800AD">
                    <a:alpha val="100000"/>
                  </a:srgbClr>
                </a:gs>
              </a:gsLst>
              <a:lin ang="0"/>
            </a:gradFill>
            <a:prstDash val="solid"/>
            <a:headEnd type="none" len="sm" w="sm"/>
            <a:tailEnd type="triangle" len="med" w="lg"/>
          </a:ln>
        </p:spPr>
      </p:sp>
      <p:sp>
        <p:nvSpPr>
          <p:cNvPr name="TextBox 20" id="20"/>
          <p:cNvSpPr txBox="true"/>
          <p:nvPr/>
        </p:nvSpPr>
        <p:spPr>
          <a:xfrm rot="0">
            <a:off x="1955305" y="6795838"/>
            <a:ext cx="2715613" cy="1371600"/>
          </a:xfrm>
          <a:prstGeom prst="rect">
            <a:avLst/>
          </a:prstGeom>
        </p:spPr>
        <p:txBody>
          <a:bodyPr anchor="t" rtlCol="false" tIns="0" lIns="0" bIns="0" rIns="0">
            <a:spAutoFit/>
          </a:bodyPr>
          <a:lstStyle/>
          <a:p>
            <a:pPr algn="ctr" marL="0" indent="0" lvl="0">
              <a:lnSpc>
                <a:spcPts val="1802"/>
              </a:lnSpc>
              <a:spcBef>
                <a:spcPct val="0"/>
              </a:spcBef>
            </a:pPr>
            <a:r>
              <a:rPr lang="en-US" b="true" sz="1501" spc="-40">
                <a:solidFill>
                  <a:srgbClr val="FFFFFF"/>
                </a:solidFill>
                <a:latin typeface="Open Sauce Bold"/>
                <a:ea typeface="Open Sauce Bold"/>
                <a:cs typeface="Open Sauce Bold"/>
                <a:sym typeface="Open Sauce Bold"/>
              </a:rPr>
              <a:t> UNVERIFIE</a:t>
            </a:r>
            <a:r>
              <a:rPr lang="en-US" b="true" sz="1501" spc="-40" strike="noStrike" u="none">
                <a:solidFill>
                  <a:srgbClr val="FFFFFF"/>
                </a:solidFill>
                <a:latin typeface="Open Sauce Bold"/>
                <a:ea typeface="Open Sauce Bold"/>
                <a:cs typeface="Open Sauce Bold"/>
                <a:sym typeface="Open Sauce Bold"/>
              </a:rPr>
              <a:t>D </a:t>
            </a:r>
            <a:r>
              <a:rPr lang="en-US" b="true" sz="1501" spc="-40" strike="noStrike" u="none">
                <a:solidFill>
                  <a:srgbClr val="FFFFFF"/>
                </a:solidFill>
                <a:latin typeface="Open Sauce Bold"/>
                <a:ea typeface="Open Sauce Bold"/>
                <a:cs typeface="Open Sauce Bold"/>
                <a:sym typeface="Open Sauce Bold"/>
              </a:rPr>
              <a:t>INFO</a:t>
            </a:r>
            <a:r>
              <a:rPr lang="en-US" b="true" sz="1501" spc="-40" strike="noStrike" u="none">
                <a:solidFill>
                  <a:srgbClr val="FFFFFF"/>
                </a:solidFill>
                <a:latin typeface="Open Sauce Bold"/>
                <a:ea typeface="Open Sauce Bold"/>
                <a:cs typeface="Open Sauce Bold"/>
                <a:sym typeface="Open Sauce Bold"/>
              </a:rPr>
              <a:t>R</a:t>
            </a:r>
            <a:r>
              <a:rPr lang="en-US" b="true" sz="1501" spc="-40" strike="noStrike" u="none">
                <a:solidFill>
                  <a:srgbClr val="FFFFFF"/>
                </a:solidFill>
                <a:latin typeface="Open Sauce Bold"/>
                <a:ea typeface="Open Sauce Bold"/>
                <a:cs typeface="Open Sauce Bold"/>
                <a:sym typeface="Open Sauce Bold"/>
              </a:rPr>
              <a:t>MAT</a:t>
            </a:r>
            <a:r>
              <a:rPr lang="en-US" b="true" sz="1501" spc="-40" strike="noStrike" u="none">
                <a:solidFill>
                  <a:srgbClr val="FFFFFF"/>
                </a:solidFill>
                <a:latin typeface="Open Sauce Bold"/>
                <a:ea typeface="Open Sauce Bold"/>
                <a:cs typeface="Open Sauce Bold"/>
                <a:sym typeface="Open Sauce Bold"/>
              </a:rPr>
              <a:t>I</a:t>
            </a:r>
            <a:r>
              <a:rPr lang="en-US" b="true" sz="1501" spc="-40" strike="noStrike" u="none">
                <a:solidFill>
                  <a:srgbClr val="FFFFFF"/>
                </a:solidFill>
                <a:latin typeface="Open Sauce Bold"/>
                <a:ea typeface="Open Sauce Bold"/>
                <a:cs typeface="Open Sauce Bold"/>
                <a:sym typeface="Open Sauce Bold"/>
              </a:rPr>
              <a:t>ON</a:t>
            </a:r>
          </a:p>
          <a:p>
            <a:pPr algn="ctr" marL="0" indent="0" lvl="0">
              <a:lnSpc>
                <a:spcPts val="1802"/>
              </a:lnSpc>
              <a:spcBef>
                <a:spcPct val="0"/>
              </a:spcBef>
            </a:pPr>
            <a:r>
              <a:rPr lang="en-US" b="true" sz="1501" spc="-40" strike="noStrike" u="none">
                <a:solidFill>
                  <a:srgbClr val="FFFFFF"/>
                </a:solidFill>
                <a:latin typeface="Open Sauce Bold"/>
                <a:ea typeface="Open Sauce Bold"/>
                <a:cs typeface="Open Sauce Bold"/>
                <a:sym typeface="Open Sauce Bold"/>
              </a:rPr>
              <a:t>OUTD</a:t>
            </a:r>
            <a:r>
              <a:rPr lang="en-US" b="true" sz="1501" spc="-40" strike="noStrike" u="none">
                <a:solidFill>
                  <a:srgbClr val="FFFFFF"/>
                </a:solidFill>
                <a:latin typeface="Open Sauce Bold"/>
                <a:ea typeface="Open Sauce Bold"/>
                <a:cs typeface="Open Sauce Bold"/>
                <a:sym typeface="Open Sauce Bold"/>
              </a:rPr>
              <a:t>ATED R</a:t>
            </a:r>
            <a:r>
              <a:rPr lang="en-US" b="true" sz="1501" spc="-40" strike="noStrike" u="none">
                <a:solidFill>
                  <a:srgbClr val="FFFFFF"/>
                </a:solidFill>
                <a:latin typeface="Open Sauce Bold"/>
                <a:ea typeface="Open Sauce Bold"/>
                <a:cs typeface="Open Sauce Bold"/>
                <a:sym typeface="Open Sauce Bold"/>
              </a:rPr>
              <a:t>EQ</a:t>
            </a:r>
            <a:r>
              <a:rPr lang="en-US" b="true" sz="1501" spc="-40" strike="noStrike" u="none">
                <a:solidFill>
                  <a:srgbClr val="FFFFFF"/>
                </a:solidFill>
                <a:latin typeface="Open Sauce Bold"/>
                <a:ea typeface="Open Sauce Bold"/>
                <a:cs typeface="Open Sauce Bold"/>
                <a:sym typeface="Open Sauce Bold"/>
              </a:rPr>
              <a:t>UI</a:t>
            </a:r>
            <a:r>
              <a:rPr lang="en-US" b="true" sz="1501" spc="-40" strike="noStrike" u="none">
                <a:solidFill>
                  <a:srgbClr val="FFFFFF"/>
                </a:solidFill>
                <a:latin typeface="Open Sauce Bold"/>
                <a:ea typeface="Open Sauce Bold"/>
                <a:cs typeface="Open Sauce Bold"/>
                <a:sym typeface="Open Sauce Bold"/>
              </a:rPr>
              <a:t>R</a:t>
            </a:r>
            <a:r>
              <a:rPr lang="en-US" b="true" sz="1501" spc="-40" strike="noStrike" u="none">
                <a:solidFill>
                  <a:srgbClr val="FFFFFF"/>
                </a:solidFill>
                <a:latin typeface="Open Sauce Bold"/>
                <a:ea typeface="Open Sauce Bold"/>
                <a:cs typeface="Open Sauce Bold"/>
                <a:sym typeface="Open Sauce Bold"/>
              </a:rPr>
              <a:t>EMENTS AND </a:t>
            </a:r>
            <a:r>
              <a:rPr lang="en-US" b="true" sz="1501" spc="-40" strike="noStrike" u="none">
                <a:solidFill>
                  <a:srgbClr val="FFFFFF"/>
                </a:solidFill>
                <a:latin typeface="Open Sauce Bold"/>
                <a:ea typeface="Open Sauce Bold"/>
                <a:cs typeface="Open Sauce Bold"/>
                <a:sym typeface="Open Sauce Bold"/>
              </a:rPr>
              <a:t>C</a:t>
            </a:r>
            <a:r>
              <a:rPr lang="en-US" b="true" sz="1501" spc="-40" strike="noStrike" u="none">
                <a:solidFill>
                  <a:srgbClr val="FFFFFF"/>
                </a:solidFill>
                <a:latin typeface="Open Sauce Bold"/>
                <a:ea typeface="Open Sauce Bold"/>
                <a:cs typeface="Open Sauce Bold"/>
                <a:sym typeface="Open Sauce Bold"/>
              </a:rPr>
              <a:t>O</a:t>
            </a:r>
            <a:r>
              <a:rPr lang="en-US" b="true" sz="1501" spc="-40" strike="noStrike" u="none">
                <a:solidFill>
                  <a:srgbClr val="FFFFFF"/>
                </a:solidFill>
                <a:latin typeface="Open Sauce Bold"/>
                <a:ea typeface="Open Sauce Bold"/>
                <a:cs typeface="Open Sauce Bold"/>
                <a:sym typeface="Open Sauce Bold"/>
              </a:rPr>
              <a:t>NFLICTING SE</a:t>
            </a:r>
            <a:r>
              <a:rPr lang="en-US" b="true" sz="1501" spc="-40" strike="noStrike" u="none">
                <a:solidFill>
                  <a:srgbClr val="FFFFFF"/>
                </a:solidFill>
                <a:latin typeface="Open Sauce Bold"/>
                <a:ea typeface="Open Sauce Bold"/>
                <a:cs typeface="Open Sauce Bold"/>
                <a:sym typeface="Open Sauce Bold"/>
              </a:rPr>
              <a:t>R</a:t>
            </a:r>
            <a:r>
              <a:rPr lang="en-US" b="true" sz="1501" spc="-40" strike="noStrike" u="none">
                <a:solidFill>
                  <a:srgbClr val="FFFFFF"/>
                </a:solidFill>
                <a:latin typeface="Open Sauce Bold"/>
                <a:ea typeface="Open Sauce Bold"/>
                <a:cs typeface="Open Sauce Bold"/>
                <a:sym typeface="Open Sauce Bold"/>
              </a:rPr>
              <a:t>VICE DE</a:t>
            </a:r>
            <a:r>
              <a:rPr lang="en-US" b="true" sz="1501" spc="-40" strike="noStrike" u="none">
                <a:solidFill>
                  <a:srgbClr val="FFFFFF"/>
                </a:solidFill>
                <a:latin typeface="Open Sauce Bold"/>
                <a:ea typeface="Open Sauce Bold"/>
                <a:cs typeface="Open Sauce Bold"/>
                <a:sym typeface="Open Sauce Bold"/>
              </a:rPr>
              <a:t>TA</a:t>
            </a:r>
            <a:r>
              <a:rPr lang="en-US" b="true" sz="1501" spc="-40" strike="noStrike" u="none">
                <a:solidFill>
                  <a:srgbClr val="FFFFFF"/>
                </a:solidFill>
                <a:latin typeface="Open Sauce Bold"/>
                <a:ea typeface="Open Sauce Bold"/>
                <a:cs typeface="Open Sauce Bold"/>
                <a:sym typeface="Open Sauce Bold"/>
              </a:rPr>
              <a:t>I</a:t>
            </a:r>
            <a:r>
              <a:rPr lang="en-US" b="true" sz="1501" spc="-40" strike="noStrike" u="none">
                <a:solidFill>
                  <a:srgbClr val="FFFFFF"/>
                </a:solidFill>
                <a:latin typeface="Open Sauce Bold"/>
                <a:ea typeface="Open Sauce Bold"/>
                <a:cs typeface="Open Sauce Bold"/>
                <a:sym typeface="Open Sauce Bold"/>
              </a:rPr>
              <a:t>LS.</a:t>
            </a:r>
          </a:p>
          <a:p>
            <a:pPr algn="ctr" marL="0" indent="0" lvl="0">
              <a:lnSpc>
                <a:spcPts val="1802"/>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8919725" y="1828349"/>
            <a:ext cx="11314356" cy="11088069"/>
          </a:xfrm>
          <a:custGeom>
            <a:avLst/>
            <a:gdLst/>
            <a:ahLst/>
            <a:cxnLst/>
            <a:rect r="r" b="b" t="t" l="l"/>
            <a:pathLst>
              <a:path h="11088069" w="11314356">
                <a:moveTo>
                  <a:pt x="0" y="0"/>
                </a:moveTo>
                <a:lnTo>
                  <a:pt x="11314356" y="0"/>
                </a:lnTo>
                <a:lnTo>
                  <a:pt x="11314356" y="11088069"/>
                </a:lnTo>
                <a:lnTo>
                  <a:pt x="0" y="110880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345782"/>
            <a:ext cx="27096405" cy="10641497"/>
          </a:xfrm>
          <a:custGeom>
            <a:avLst/>
            <a:gdLst/>
            <a:ahLst/>
            <a:cxnLst/>
            <a:rect r="r" b="b" t="t" l="l"/>
            <a:pathLst>
              <a:path h="10641497" w="27096405">
                <a:moveTo>
                  <a:pt x="0" y="0"/>
                </a:moveTo>
                <a:lnTo>
                  <a:pt x="27096405" y="0"/>
                </a:lnTo>
                <a:lnTo>
                  <a:pt x="27096405" y="10641498"/>
                </a:lnTo>
                <a:lnTo>
                  <a:pt x="0" y="10641498"/>
                </a:lnTo>
                <a:lnTo>
                  <a:pt x="0" y="0"/>
                </a:lnTo>
                <a:close/>
              </a:path>
            </a:pathLst>
          </a:custGeom>
          <a:blipFill>
            <a:blip r:embed="rId4"/>
            <a:stretch>
              <a:fillRect l="0" t="0" r="0" b="0"/>
            </a:stretch>
          </a:blipFill>
        </p:spPr>
      </p:sp>
      <p:grpSp>
        <p:nvGrpSpPr>
          <p:cNvPr name="Group 4" id="4"/>
          <p:cNvGrpSpPr/>
          <p:nvPr/>
        </p:nvGrpSpPr>
        <p:grpSpPr>
          <a:xfrm rot="0">
            <a:off x="13450858" y="-955619"/>
            <a:ext cx="5560203" cy="8637044"/>
            <a:chOff x="0" y="0"/>
            <a:chExt cx="861421" cy="1338104"/>
          </a:xfrm>
        </p:grpSpPr>
        <p:sp>
          <p:nvSpPr>
            <p:cNvPr name="Freeform 5" id="5"/>
            <p:cNvSpPr/>
            <p:nvPr/>
          </p:nvSpPr>
          <p:spPr>
            <a:xfrm flipH="false" flipV="false" rot="0">
              <a:off x="0" y="0"/>
              <a:ext cx="861421" cy="1338104"/>
            </a:xfrm>
            <a:custGeom>
              <a:avLst/>
              <a:gdLst/>
              <a:ahLst/>
              <a:cxnLst/>
              <a:rect r="r" b="b" t="t" l="l"/>
              <a:pathLst>
                <a:path h="1338104" w="861421">
                  <a:moveTo>
                    <a:pt x="861421" y="0"/>
                  </a:moveTo>
                  <a:lnTo>
                    <a:pt x="861421" y="1223804"/>
                  </a:lnTo>
                  <a:lnTo>
                    <a:pt x="430710" y="1338104"/>
                  </a:lnTo>
                  <a:lnTo>
                    <a:pt x="0" y="1223804"/>
                  </a:lnTo>
                  <a:lnTo>
                    <a:pt x="0" y="0"/>
                  </a:lnTo>
                  <a:lnTo>
                    <a:pt x="861421" y="0"/>
                  </a:lnTo>
                  <a:close/>
                </a:path>
              </a:pathLst>
            </a:custGeom>
            <a:blipFill>
              <a:blip r:embed="rId5"/>
              <a:stretch>
                <a:fillRect l="-54680" t="0" r="-78113" b="0"/>
              </a:stretch>
            </a:blipFill>
            <a:ln w="85725" cap="sq">
              <a:solidFill>
                <a:srgbClr val="1800AD"/>
              </a:solidFill>
              <a:prstDash val="solid"/>
              <a:miter/>
            </a:ln>
          </p:spPr>
        </p:sp>
      </p:grpSp>
      <p:sp>
        <p:nvSpPr>
          <p:cNvPr name="TextBox 6" id="6"/>
          <p:cNvSpPr txBox="true"/>
          <p:nvPr/>
        </p:nvSpPr>
        <p:spPr>
          <a:xfrm rot="0">
            <a:off x="1028700" y="322537"/>
            <a:ext cx="5845686" cy="1837728"/>
          </a:xfrm>
          <a:prstGeom prst="rect">
            <a:avLst/>
          </a:prstGeom>
        </p:spPr>
        <p:txBody>
          <a:bodyPr anchor="t" rtlCol="false" tIns="0" lIns="0" bIns="0" rIns="0">
            <a:spAutoFit/>
          </a:bodyPr>
          <a:lstStyle/>
          <a:p>
            <a:pPr algn="l">
              <a:lnSpc>
                <a:spcPts val="7053"/>
              </a:lnSpc>
            </a:pPr>
            <a:r>
              <a:rPr lang="en-US" b="true" sz="5037" spc="-357">
                <a:solidFill>
                  <a:srgbClr val="FFFFFF"/>
                </a:solidFill>
                <a:latin typeface="Chakra Petch Bold"/>
                <a:ea typeface="Chakra Petch Bold"/>
                <a:cs typeface="Chakra Petch Bold"/>
                <a:sym typeface="Chakra Petch Bold"/>
              </a:rPr>
              <a:t>WHAT MAKES NAVA DIFFERENT?</a:t>
            </a:r>
          </a:p>
          <a:p>
            <a:pPr algn="l">
              <a:lnSpc>
                <a:spcPts val="52"/>
              </a:lnSpc>
            </a:pPr>
          </a:p>
        </p:txBody>
      </p:sp>
      <p:sp>
        <p:nvSpPr>
          <p:cNvPr name="TextBox 7" id="7"/>
          <p:cNvSpPr txBox="true"/>
          <p:nvPr/>
        </p:nvSpPr>
        <p:spPr>
          <a:xfrm rot="0">
            <a:off x="933111" y="2390408"/>
            <a:ext cx="8654051" cy="7934018"/>
          </a:xfrm>
          <a:prstGeom prst="rect">
            <a:avLst/>
          </a:prstGeom>
        </p:spPr>
        <p:txBody>
          <a:bodyPr anchor="t" rtlCol="false" tIns="0" lIns="0" bIns="0" rIns="0">
            <a:spAutoFit/>
          </a:bodyPr>
          <a:lstStyle/>
          <a:p>
            <a:pPr algn="l">
              <a:lnSpc>
                <a:spcPts val="2889"/>
              </a:lnSpc>
            </a:pPr>
            <a:r>
              <a:rPr lang="en-US" sz="2469" spc="-61">
                <a:solidFill>
                  <a:srgbClr val="FFFFFF"/>
                </a:solidFill>
                <a:latin typeface="Canva Sans"/>
                <a:ea typeface="Canva Sans"/>
                <a:cs typeface="Canva Sans"/>
                <a:sym typeface="Canva Sans"/>
              </a:rPr>
              <a:t>NAVA go</a:t>
            </a:r>
            <a:r>
              <a:rPr lang="en-US" sz="2469" spc="-61">
                <a:solidFill>
                  <a:srgbClr val="FFFFFF"/>
                </a:solidFill>
                <a:latin typeface="Canva Sans"/>
                <a:ea typeface="Canva Sans"/>
                <a:cs typeface="Canva Sans"/>
                <a:sym typeface="Canva Sans"/>
              </a:rPr>
              <a:t>es beyond traditional government service portals by understanding citizens’ goals, identifying relevant services, mapping dependencies, and generating personalised, step-by-step action plans. It provides verified information, explains why each service is needed, and dynamically ada</a:t>
            </a:r>
          </a:p>
          <a:p>
            <a:pPr algn="l">
              <a:lnSpc>
                <a:spcPts val="2889"/>
              </a:lnSpc>
            </a:pPr>
            <a:r>
              <a:rPr lang="en-US" sz="2469" spc="-61">
                <a:solidFill>
                  <a:srgbClr val="FFFFFF"/>
                </a:solidFill>
                <a:latin typeface="Canva Sans"/>
                <a:ea typeface="Canva Sans"/>
                <a:cs typeface="Canva Sans"/>
                <a:sym typeface="Canva Sans"/>
              </a:rPr>
              <a:t>pts recommendations when circumstances change.</a:t>
            </a:r>
          </a:p>
          <a:p>
            <a:pPr algn="l">
              <a:lnSpc>
                <a:spcPts val="2889"/>
              </a:lnSpc>
            </a:pPr>
          </a:p>
          <a:p>
            <a:pPr algn="l">
              <a:lnSpc>
                <a:spcPts val="2889"/>
              </a:lnSpc>
            </a:pPr>
            <a:r>
              <a:rPr lang="en-US" sz="2469" spc="-61">
                <a:solidFill>
                  <a:srgbClr val="FFFFFF"/>
                </a:solidFill>
                <a:latin typeface="Canva Sans"/>
                <a:ea typeface="Canva Sans"/>
                <a:cs typeface="Canva Sans"/>
                <a:sym typeface="Canva Sans"/>
              </a:rPr>
              <a:t>WHAT MAKES NAVA DIFFERENT?</a:t>
            </a:r>
          </a:p>
          <a:p>
            <a:pPr algn="l" marL="533138" indent="-266569" lvl="1">
              <a:lnSpc>
                <a:spcPts val="2889"/>
              </a:lnSpc>
              <a:buFont typeface="Arial"/>
              <a:buChar char="•"/>
            </a:pPr>
            <a:r>
              <a:rPr lang="en-US" sz="2469" spc="-61">
                <a:solidFill>
                  <a:srgbClr val="FFFFFF"/>
                </a:solidFill>
                <a:latin typeface="Canva Sans"/>
                <a:ea typeface="Canva Sans"/>
                <a:cs typeface="Canva Sans"/>
                <a:sym typeface="Canva Sans"/>
              </a:rPr>
              <a:t>Goal-Based Discovery: Identifies services based on citizens’ needs.</a:t>
            </a:r>
          </a:p>
          <a:p>
            <a:pPr algn="l" marL="533138" indent="-266569" lvl="1">
              <a:lnSpc>
                <a:spcPts val="2889"/>
              </a:lnSpc>
              <a:buFont typeface="Arial"/>
              <a:buChar char="•"/>
            </a:pPr>
            <a:r>
              <a:rPr lang="en-US" sz="2469" spc="-61">
                <a:solidFill>
                  <a:srgbClr val="FFFFFF"/>
                </a:solidFill>
                <a:latin typeface="Canva Sans"/>
                <a:ea typeface="Canva Sans"/>
                <a:cs typeface="Canva Sans"/>
                <a:sym typeface="Canva Sans"/>
              </a:rPr>
              <a:t>Dependency Mapping: Connects services and identifies prerequisites.</a:t>
            </a:r>
          </a:p>
          <a:p>
            <a:pPr algn="l" marL="533138" indent="-266569" lvl="1">
              <a:lnSpc>
                <a:spcPts val="2889"/>
              </a:lnSpc>
              <a:buFont typeface="Arial"/>
              <a:buChar char="•"/>
            </a:pPr>
            <a:r>
              <a:rPr lang="en-US" sz="2469" spc="-61">
                <a:solidFill>
                  <a:srgbClr val="FFFFFF"/>
                </a:solidFill>
                <a:latin typeface="Canva Sans"/>
                <a:ea typeface="Canva Sans"/>
                <a:cs typeface="Canva Sans"/>
                <a:sym typeface="Canva Sans"/>
              </a:rPr>
              <a:t>Personalised Action Plans: Creates clear, step-by-step roadmaps.</a:t>
            </a:r>
          </a:p>
          <a:p>
            <a:pPr algn="l" marL="533138" indent="-266569" lvl="1">
              <a:lnSpc>
                <a:spcPts val="2889"/>
              </a:lnSpc>
              <a:buFont typeface="Arial"/>
              <a:buChar char="•"/>
            </a:pPr>
            <a:r>
              <a:rPr lang="en-US" sz="2469" spc="-61">
                <a:solidFill>
                  <a:srgbClr val="FFFFFF"/>
                </a:solidFill>
                <a:latin typeface="Canva Sans"/>
                <a:ea typeface="Canva Sans"/>
                <a:cs typeface="Canva Sans"/>
                <a:sym typeface="Canva Sans"/>
              </a:rPr>
              <a:t>Verified Information: Grounds recommendations in official sources.</a:t>
            </a:r>
          </a:p>
          <a:p>
            <a:pPr algn="l" marL="533138" indent="-266569" lvl="1">
              <a:lnSpc>
                <a:spcPts val="2889"/>
              </a:lnSpc>
              <a:buFont typeface="Arial"/>
              <a:buChar char="•"/>
            </a:pPr>
            <a:r>
              <a:rPr lang="en-US" sz="2469" spc="-61">
                <a:solidFill>
                  <a:srgbClr val="FFFFFF"/>
                </a:solidFill>
                <a:latin typeface="Canva Sans"/>
                <a:ea typeface="Canva Sans"/>
                <a:cs typeface="Canva Sans"/>
                <a:sym typeface="Canva Sans"/>
              </a:rPr>
              <a:t>Dynamic Replanning: Adapts plans when circumstances change.</a:t>
            </a:r>
          </a:p>
          <a:p>
            <a:pPr algn="l" marL="533138" indent="-266569" lvl="1">
              <a:lnSpc>
                <a:spcPts val="2889"/>
              </a:lnSpc>
              <a:buFont typeface="Arial"/>
              <a:buChar char="•"/>
            </a:pPr>
            <a:r>
              <a:rPr lang="en-US" sz="2469" spc="-61">
                <a:solidFill>
                  <a:srgbClr val="FFFFFF"/>
                </a:solidFill>
                <a:latin typeface="Canva Sans"/>
                <a:ea typeface="Canva Sans"/>
                <a:cs typeface="Canva Sans"/>
                <a:sym typeface="Canva Sans"/>
              </a:rPr>
              <a:t>Explainable Guidance: Explains why each service is needed and what to do next.</a:t>
            </a:r>
          </a:p>
          <a:p>
            <a:pPr algn="l">
              <a:lnSpc>
                <a:spcPts val="2772"/>
              </a:lnSpc>
            </a:pPr>
          </a:p>
        </p:txBody>
      </p:sp>
      <p:grpSp>
        <p:nvGrpSpPr>
          <p:cNvPr name="Group 8" id="8"/>
          <p:cNvGrpSpPr/>
          <p:nvPr/>
        </p:nvGrpSpPr>
        <p:grpSpPr>
          <a:xfrm rot="0">
            <a:off x="6609954" y="1389320"/>
            <a:ext cx="2977208" cy="867361"/>
            <a:chOff x="0" y="0"/>
            <a:chExt cx="784150" cy="228550"/>
          </a:xfrm>
        </p:grpSpPr>
        <p:sp>
          <p:nvSpPr>
            <p:cNvPr name="Freeform 9" id="9"/>
            <p:cNvSpPr/>
            <p:nvPr/>
          </p:nvSpPr>
          <p:spPr>
            <a:xfrm flipH="false" flipV="false" rot="0">
              <a:off x="0" y="0"/>
              <a:ext cx="784150" cy="228550"/>
            </a:xfrm>
            <a:custGeom>
              <a:avLst/>
              <a:gdLst/>
              <a:ahLst/>
              <a:cxnLst/>
              <a:rect r="r" b="b" t="t" l="l"/>
              <a:pathLst>
                <a:path h="228550" w="784150">
                  <a:moveTo>
                    <a:pt x="784150" y="0"/>
                  </a:moveTo>
                  <a:lnTo>
                    <a:pt x="784150" y="228550"/>
                  </a:lnTo>
                  <a:lnTo>
                    <a:pt x="0" y="22855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10" id="10"/>
            <p:cNvSpPr txBox="true"/>
            <p:nvPr/>
          </p:nvSpPr>
          <p:spPr>
            <a:xfrm>
              <a:off x="0" y="-38100"/>
              <a:ext cx="784150" cy="26665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true" flipV="false" rot="0">
            <a:off x="-1723817" y="3739686"/>
            <a:ext cx="11314356" cy="11088069"/>
          </a:xfrm>
          <a:custGeom>
            <a:avLst/>
            <a:gdLst/>
            <a:ahLst/>
            <a:cxnLst/>
            <a:rect r="r" b="b" t="t" l="l"/>
            <a:pathLst>
              <a:path h="11088069" w="11314356">
                <a:moveTo>
                  <a:pt x="11314356" y="0"/>
                </a:moveTo>
                <a:lnTo>
                  <a:pt x="0" y="0"/>
                </a:lnTo>
                <a:lnTo>
                  <a:pt x="0" y="11088068"/>
                </a:lnTo>
                <a:lnTo>
                  <a:pt x="11314356" y="11088068"/>
                </a:lnTo>
                <a:lnTo>
                  <a:pt x="113143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6214611" y="-5497997"/>
            <a:ext cx="27096405" cy="10641497"/>
          </a:xfrm>
          <a:custGeom>
            <a:avLst/>
            <a:gdLst/>
            <a:ahLst/>
            <a:cxnLst/>
            <a:rect r="r" b="b" t="t" l="l"/>
            <a:pathLst>
              <a:path h="10641497" w="27096405">
                <a:moveTo>
                  <a:pt x="0" y="10641497"/>
                </a:moveTo>
                <a:lnTo>
                  <a:pt x="27096405" y="10641497"/>
                </a:lnTo>
                <a:lnTo>
                  <a:pt x="27096405" y="0"/>
                </a:lnTo>
                <a:lnTo>
                  <a:pt x="0" y="0"/>
                </a:lnTo>
                <a:lnTo>
                  <a:pt x="0" y="10641497"/>
                </a:lnTo>
                <a:close/>
              </a:path>
            </a:pathLst>
          </a:custGeom>
          <a:blipFill>
            <a:blip r:embed="rId4"/>
            <a:stretch>
              <a:fillRect l="0" t="0" r="0" b="0"/>
            </a:stretch>
          </a:blipFill>
        </p:spPr>
      </p:sp>
      <p:sp>
        <p:nvSpPr>
          <p:cNvPr name="Freeform 4" id="4"/>
          <p:cNvSpPr/>
          <p:nvPr/>
        </p:nvSpPr>
        <p:spPr>
          <a:xfrm flipH="true" flipV="false" rot="0">
            <a:off x="158861" y="746849"/>
            <a:ext cx="18288000" cy="5628245"/>
          </a:xfrm>
          <a:custGeom>
            <a:avLst/>
            <a:gdLst/>
            <a:ahLst/>
            <a:cxnLst/>
            <a:rect r="r" b="b" t="t" l="l"/>
            <a:pathLst>
              <a:path h="5628245" w="18288000">
                <a:moveTo>
                  <a:pt x="18288000" y="0"/>
                </a:moveTo>
                <a:lnTo>
                  <a:pt x="0" y="0"/>
                </a:lnTo>
                <a:lnTo>
                  <a:pt x="0" y="5628245"/>
                </a:lnTo>
                <a:lnTo>
                  <a:pt x="18288000" y="5628245"/>
                </a:lnTo>
                <a:lnTo>
                  <a:pt x="18288000" y="0"/>
                </a:lnTo>
                <a:close/>
              </a:path>
            </a:pathLst>
          </a:custGeom>
          <a:blipFill>
            <a:blip r:embed="rId5"/>
            <a:stretch>
              <a:fillRect l="0" t="-59878" r="-1187" b="-59178"/>
            </a:stretch>
          </a:blipFill>
        </p:spPr>
      </p:sp>
      <p:grpSp>
        <p:nvGrpSpPr>
          <p:cNvPr name="Group 5" id="5"/>
          <p:cNvGrpSpPr/>
          <p:nvPr/>
        </p:nvGrpSpPr>
        <p:grpSpPr>
          <a:xfrm rot="0">
            <a:off x="1028700" y="1028700"/>
            <a:ext cx="2977208" cy="867361"/>
            <a:chOff x="0" y="0"/>
            <a:chExt cx="784150" cy="228550"/>
          </a:xfrm>
        </p:grpSpPr>
        <p:sp>
          <p:nvSpPr>
            <p:cNvPr name="Freeform 6" id="6"/>
            <p:cNvSpPr/>
            <p:nvPr/>
          </p:nvSpPr>
          <p:spPr>
            <a:xfrm flipH="false" flipV="false" rot="0">
              <a:off x="0" y="0"/>
              <a:ext cx="784150" cy="228550"/>
            </a:xfrm>
            <a:custGeom>
              <a:avLst/>
              <a:gdLst/>
              <a:ahLst/>
              <a:cxnLst/>
              <a:rect r="r" b="b" t="t" l="l"/>
              <a:pathLst>
                <a:path h="228550" w="784150">
                  <a:moveTo>
                    <a:pt x="784150" y="0"/>
                  </a:moveTo>
                  <a:lnTo>
                    <a:pt x="784150" y="228550"/>
                  </a:lnTo>
                  <a:lnTo>
                    <a:pt x="0" y="22855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7" id="7"/>
            <p:cNvSpPr txBox="true"/>
            <p:nvPr/>
          </p:nvSpPr>
          <p:spPr>
            <a:xfrm>
              <a:off x="0" y="-38100"/>
              <a:ext cx="784150" cy="26665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28700" y="6816160"/>
            <a:ext cx="2214477" cy="2467560"/>
          </a:xfrm>
          <a:custGeom>
            <a:avLst/>
            <a:gdLst/>
            <a:ahLst/>
            <a:cxnLst/>
            <a:rect r="r" b="b" t="t" l="l"/>
            <a:pathLst>
              <a:path h="2467560" w="2214477">
                <a:moveTo>
                  <a:pt x="0" y="0"/>
                </a:moveTo>
                <a:lnTo>
                  <a:pt x="2214477" y="0"/>
                </a:lnTo>
                <a:lnTo>
                  <a:pt x="2214477" y="2467560"/>
                </a:lnTo>
                <a:lnTo>
                  <a:pt x="0" y="2467560"/>
                </a:lnTo>
                <a:lnTo>
                  <a:pt x="0" y="0"/>
                </a:lnTo>
                <a:close/>
              </a:path>
            </a:pathLst>
          </a:custGeom>
          <a:blipFill>
            <a:blip r:embed="rId6"/>
            <a:stretch>
              <a:fillRect l="0" t="0" r="0" b="0"/>
            </a:stretch>
          </a:blipFill>
        </p:spPr>
      </p:sp>
      <p:sp>
        <p:nvSpPr>
          <p:cNvPr name="Freeform 9" id="9"/>
          <p:cNvSpPr/>
          <p:nvPr/>
        </p:nvSpPr>
        <p:spPr>
          <a:xfrm flipH="false" flipV="false" rot="0">
            <a:off x="3625958" y="6816160"/>
            <a:ext cx="2366253" cy="2467560"/>
          </a:xfrm>
          <a:custGeom>
            <a:avLst/>
            <a:gdLst/>
            <a:ahLst/>
            <a:cxnLst/>
            <a:rect r="r" b="b" t="t" l="l"/>
            <a:pathLst>
              <a:path h="2467560" w="2366253">
                <a:moveTo>
                  <a:pt x="0" y="0"/>
                </a:moveTo>
                <a:lnTo>
                  <a:pt x="2366253" y="0"/>
                </a:lnTo>
                <a:lnTo>
                  <a:pt x="2366253" y="2467560"/>
                </a:lnTo>
                <a:lnTo>
                  <a:pt x="0" y="2467560"/>
                </a:lnTo>
                <a:lnTo>
                  <a:pt x="0" y="0"/>
                </a:lnTo>
                <a:close/>
              </a:path>
            </a:pathLst>
          </a:custGeom>
          <a:blipFill>
            <a:blip r:embed="rId7"/>
            <a:stretch>
              <a:fillRect l="0" t="0" r="0" b="0"/>
            </a:stretch>
          </a:blipFill>
        </p:spPr>
      </p:sp>
      <p:sp>
        <p:nvSpPr>
          <p:cNvPr name="Freeform 10" id="10"/>
          <p:cNvSpPr/>
          <p:nvPr/>
        </p:nvSpPr>
        <p:spPr>
          <a:xfrm flipH="false" flipV="false" rot="0">
            <a:off x="6373211" y="6816160"/>
            <a:ext cx="2378905" cy="2467560"/>
          </a:xfrm>
          <a:custGeom>
            <a:avLst/>
            <a:gdLst/>
            <a:ahLst/>
            <a:cxnLst/>
            <a:rect r="r" b="b" t="t" l="l"/>
            <a:pathLst>
              <a:path h="2467560" w="2378905">
                <a:moveTo>
                  <a:pt x="0" y="0"/>
                </a:moveTo>
                <a:lnTo>
                  <a:pt x="2378905" y="0"/>
                </a:lnTo>
                <a:lnTo>
                  <a:pt x="2378905" y="2467560"/>
                </a:lnTo>
                <a:lnTo>
                  <a:pt x="0" y="2467560"/>
                </a:lnTo>
                <a:lnTo>
                  <a:pt x="0" y="0"/>
                </a:lnTo>
                <a:close/>
              </a:path>
            </a:pathLst>
          </a:custGeom>
          <a:blipFill>
            <a:blip r:embed="rId8"/>
            <a:stretch>
              <a:fillRect l="0" t="0" r="0" b="0"/>
            </a:stretch>
          </a:blipFill>
        </p:spPr>
      </p:sp>
      <p:sp>
        <p:nvSpPr>
          <p:cNvPr name="Freeform 11" id="11"/>
          <p:cNvSpPr/>
          <p:nvPr/>
        </p:nvSpPr>
        <p:spPr>
          <a:xfrm flipH="false" flipV="false" rot="0">
            <a:off x="9133116" y="6784652"/>
            <a:ext cx="2508735" cy="2473648"/>
          </a:xfrm>
          <a:custGeom>
            <a:avLst/>
            <a:gdLst/>
            <a:ahLst/>
            <a:cxnLst/>
            <a:rect r="r" b="b" t="t" l="l"/>
            <a:pathLst>
              <a:path h="2473648" w="2508735">
                <a:moveTo>
                  <a:pt x="0" y="0"/>
                </a:moveTo>
                <a:lnTo>
                  <a:pt x="2508736" y="0"/>
                </a:lnTo>
                <a:lnTo>
                  <a:pt x="2508736" y="2473648"/>
                </a:lnTo>
                <a:lnTo>
                  <a:pt x="0" y="2473648"/>
                </a:lnTo>
                <a:lnTo>
                  <a:pt x="0" y="0"/>
                </a:lnTo>
                <a:close/>
              </a:path>
            </a:pathLst>
          </a:custGeom>
          <a:blipFill>
            <a:blip r:embed="rId9"/>
            <a:stretch>
              <a:fillRect l="0" t="0" r="0" b="0"/>
            </a:stretch>
          </a:blipFill>
        </p:spPr>
      </p:sp>
      <p:sp>
        <p:nvSpPr>
          <p:cNvPr name="Freeform 12" id="12"/>
          <p:cNvSpPr/>
          <p:nvPr/>
        </p:nvSpPr>
        <p:spPr>
          <a:xfrm flipH="false" flipV="false" rot="0">
            <a:off x="12159687" y="6784652"/>
            <a:ext cx="2565949" cy="2473648"/>
          </a:xfrm>
          <a:custGeom>
            <a:avLst/>
            <a:gdLst/>
            <a:ahLst/>
            <a:cxnLst/>
            <a:rect r="r" b="b" t="t" l="l"/>
            <a:pathLst>
              <a:path h="2473648" w="2565949">
                <a:moveTo>
                  <a:pt x="0" y="0"/>
                </a:moveTo>
                <a:lnTo>
                  <a:pt x="2565948" y="0"/>
                </a:lnTo>
                <a:lnTo>
                  <a:pt x="2565948" y="2473648"/>
                </a:lnTo>
                <a:lnTo>
                  <a:pt x="0" y="2473648"/>
                </a:lnTo>
                <a:lnTo>
                  <a:pt x="0" y="0"/>
                </a:lnTo>
                <a:close/>
              </a:path>
            </a:pathLst>
          </a:custGeom>
          <a:blipFill>
            <a:blip r:embed="rId10"/>
            <a:stretch>
              <a:fillRect l="0" t="0" r="0" b="0"/>
            </a:stretch>
          </a:blipFill>
        </p:spPr>
      </p:sp>
      <p:sp>
        <p:nvSpPr>
          <p:cNvPr name="Freeform 13" id="13"/>
          <p:cNvSpPr/>
          <p:nvPr/>
        </p:nvSpPr>
        <p:spPr>
          <a:xfrm flipH="false" flipV="false" rot="0">
            <a:off x="15239985" y="6710435"/>
            <a:ext cx="2777205" cy="2573285"/>
          </a:xfrm>
          <a:custGeom>
            <a:avLst/>
            <a:gdLst/>
            <a:ahLst/>
            <a:cxnLst/>
            <a:rect r="r" b="b" t="t" l="l"/>
            <a:pathLst>
              <a:path h="2573285" w="2777205">
                <a:moveTo>
                  <a:pt x="0" y="0"/>
                </a:moveTo>
                <a:lnTo>
                  <a:pt x="2777205" y="0"/>
                </a:lnTo>
                <a:lnTo>
                  <a:pt x="2777205" y="2573285"/>
                </a:lnTo>
                <a:lnTo>
                  <a:pt x="0" y="2573285"/>
                </a:lnTo>
                <a:lnTo>
                  <a:pt x="0" y="0"/>
                </a:lnTo>
                <a:close/>
              </a:path>
            </a:pathLst>
          </a:custGeom>
          <a:blipFill>
            <a:blip r:embed="rId11"/>
            <a:stretch>
              <a:fillRect l="0" t="0" r="0" b="0"/>
            </a:stretch>
          </a:blipFill>
        </p:spPr>
      </p:sp>
      <p:sp>
        <p:nvSpPr>
          <p:cNvPr name="TextBox 14" id="14"/>
          <p:cNvSpPr txBox="true"/>
          <p:nvPr/>
        </p:nvSpPr>
        <p:spPr>
          <a:xfrm rot="0">
            <a:off x="0" y="226485"/>
            <a:ext cx="9983702" cy="2081457"/>
          </a:xfrm>
          <a:prstGeom prst="rect">
            <a:avLst/>
          </a:prstGeom>
        </p:spPr>
        <p:txBody>
          <a:bodyPr anchor="t" rtlCol="false" tIns="0" lIns="0" bIns="0" rIns="0">
            <a:spAutoFit/>
          </a:bodyPr>
          <a:lstStyle/>
          <a:p>
            <a:pPr algn="ctr">
              <a:lnSpc>
                <a:spcPts val="8428"/>
              </a:lnSpc>
              <a:spcBef>
                <a:spcPct val="0"/>
              </a:spcBef>
            </a:pPr>
            <a:r>
              <a:rPr lang="en-US" b="true" sz="7024" spc="-189">
                <a:solidFill>
                  <a:srgbClr val="FFFFFF"/>
                </a:solidFill>
                <a:latin typeface="Open Sauce Bold"/>
                <a:ea typeface="Open Sauce Bold"/>
                <a:cs typeface="Open Sauce Bold"/>
                <a:sym typeface="Open Sauce Bold"/>
              </a:rPr>
              <a:t>EXISTING SERVICES V/S NAVA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7072951" y="5496074"/>
            <a:ext cx="11314356" cy="11088069"/>
          </a:xfrm>
          <a:custGeom>
            <a:avLst/>
            <a:gdLst/>
            <a:ahLst/>
            <a:cxnLst/>
            <a:rect r="r" b="b" t="t" l="l"/>
            <a:pathLst>
              <a:path h="11088069" w="11314356">
                <a:moveTo>
                  <a:pt x="0" y="0"/>
                </a:moveTo>
                <a:lnTo>
                  <a:pt x="11314355" y="0"/>
                </a:lnTo>
                <a:lnTo>
                  <a:pt x="11314355" y="11088068"/>
                </a:lnTo>
                <a:lnTo>
                  <a:pt x="0" y="110880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44000" y="2427035"/>
            <a:ext cx="14923939" cy="16717243"/>
          </a:xfrm>
          <a:custGeom>
            <a:avLst/>
            <a:gdLst/>
            <a:ahLst/>
            <a:cxnLst/>
            <a:rect r="r" b="b" t="t" l="l"/>
            <a:pathLst>
              <a:path h="16717243" w="14923939">
                <a:moveTo>
                  <a:pt x="0" y="0"/>
                </a:moveTo>
                <a:lnTo>
                  <a:pt x="14923939" y="0"/>
                </a:lnTo>
                <a:lnTo>
                  <a:pt x="14923939" y="16717242"/>
                </a:lnTo>
                <a:lnTo>
                  <a:pt x="0" y="167172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779939" y="-6430243"/>
            <a:ext cx="14923939" cy="16717243"/>
          </a:xfrm>
          <a:custGeom>
            <a:avLst/>
            <a:gdLst/>
            <a:ahLst/>
            <a:cxnLst/>
            <a:rect r="r" b="b" t="t" l="l"/>
            <a:pathLst>
              <a:path h="16717243" w="14923939">
                <a:moveTo>
                  <a:pt x="0" y="0"/>
                </a:moveTo>
                <a:lnTo>
                  <a:pt x="14923939" y="0"/>
                </a:lnTo>
                <a:lnTo>
                  <a:pt x="14923939" y="16717243"/>
                </a:lnTo>
                <a:lnTo>
                  <a:pt x="0" y="167172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7578405" y="5981928"/>
            <a:ext cx="2679110" cy="867361"/>
            <a:chOff x="0" y="0"/>
            <a:chExt cx="705636" cy="228550"/>
          </a:xfrm>
        </p:grpSpPr>
        <p:sp>
          <p:nvSpPr>
            <p:cNvPr name="Freeform 6" id="6"/>
            <p:cNvSpPr/>
            <p:nvPr/>
          </p:nvSpPr>
          <p:spPr>
            <a:xfrm flipH="false" flipV="false" rot="0">
              <a:off x="0" y="0"/>
              <a:ext cx="705636" cy="228550"/>
            </a:xfrm>
            <a:custGeom>
              <a:avLst/>
              <a:gdLst/>
              <a:ahLst/>
              <a:cxnLst/>
              <a:rect r="r" b="b" t="t" l="l"/>
              <a:pathLst>
                <a:path h="228550" w="705636">
                  <a:moveTo>
                    <a:pt x="705636" y="0"/>
                  </a:moveTo>
                  <a:lnTo>
                    <a:pt x="705636" y="228550"/>
                  </a:lnTo>
                  <a:lnTo>
                    <a:pt x="0" y="22855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7" id="7"/>
            <p:cNvSpPr txBox="true"/>
            <p:nvPr/>
          </p:nvSpPr>
          <p:spPr>
            <a:xfrm>
              <a:off x="0" y="-38100"/>
              <a:ext cx="705636" cy="26665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3086173" y="4920188"/>
            <a:ext cx="5454332" cy="5366812"/>
            <a:chOff x="0" y="0"/>
            <a:chExt cx="826055" cy="812800"/>
          </a:xfrm>
        </p:grpSpPr>
        <p:sp>
          <p:nvSpPr>
            <p:cNvPr name="Freeform 9" id="9"/>
            <p:cNvSpPr/>
            <p:nvPr/>
          </p:nvSpPr>
          <p:spPr>
            <a:xfrm flipH="false" flipV="false" rot="0">
              <a:off x="0" y="0"/>
              <a:ext cx="826055" cy="812800"/>
            </a:xfrm>
            <a:custGeom>
              <a:avLst/>
              <a:gdLst/>
              <a:ahLst/>
              <a:cxnLst/>
              <a:rect r="r" b="b" t="t" l="l"/>
              <a:pathLst>
                <a:path h="812800" w="826055">
                  <a:moveTo>
                    <a:pt x="413028" y="0"/>
                  </a:moveTo>
                  <a:cubicBezTo>
                    <a:pt x="184919" y="0"/>
                    <a:pt x="0" y="181951"/>
                    <a:pt x="0" y="406400"/>
                  </a:cubicBezTo>
                  <a:cubicBezTo>
                    <a:pt x="0" y="630849"/>
                    <a:pt x="184919" y="812800"/>
                    <a:pt x="413028" y="812800"/>
                  </a:cubicBezTo>
                  <a:cubicBezTo>
                    <a:pt x="641136" y="812800"/>
                    <a:pt x="826055" y="630849"/>
                    <a:pt x="826055" y="406400"/>
                  </a:cubicBezTo>
                  <a:cubicBezTo>
                    <a:pt x="826055" y="181951"/>
                    <a:pt x="641136" y="0"/>
                    <a:pt x="413028" y="0"/>
                  </a:cubicBezTo>
                  <a:close/>
                </a:path>
              </a:pathLst>
            </a:custGeom>
            <a:solidFill>
              <a:srgbClr val="1800AD"/>
            </a:solidFill>
          </p:spPr>
        </p:sp>
        <p:sp>
          <p:nvSpPr>
            <p:cNvPr name="TextBox 10" id="10"/>
            <p:cNvSpPr txBox="true"/>
            <p:nvPr/>
          </p:nvSpPr>
          <p:spPr>
            <a:xfrm>
              <a:off x="77443" y="76200"/>
              <a:ext cx="671170" cy="660400"/>
            </a:xfrm>
            <a:prstGeom prst="rect">
              <a:avLst/>
            </a:prstGeom>
          </p:spPr>
          <p:txBody>
            <a:bodyPr anchor="ctr" rtlCol="false" tIns="50800" lIns="50800" bIns="50800" rIns="50800"/>
            <a:lstStyle/>
            <a:p>
              <a:pPr algn="ctr">
                <a:lnSpc>
                  <a:spcPts val="2160"/>
                </a:lnSpc>
              </a:pPr>
            </a:p>
          </p:txBody>
        </p:sp>
      </p:grpSp>
      <p:sp>
        <p:nvSpPr>
          <p:cNvPr name="Freeform 11" id="11"/>
          <p:cNvSpPr/>
          <p:nvPr/>
        </p:nvSpPr>
        <p:spPr>
          <a:xfrm flipH="false" flipV="false" rot="0">
            <a:off x="14397896" y="2803791"/>
            <a:ext cx="3890104" cy="4232794"/>
          </a:xfrm>
          <a:custGeom>
            <a:avLst/>
            <a:gdLst/>
            <a:ahLst/>
            <a:cxnLst/>
            <a:rect r="r" b="b" t="t" l="l"/>
            <a:pathLst>
              <a:path h="4232794" w="3890104">
                <a:moveTo>
                  <a:pt x="0" y="0"/>
                </a:moveTo>
                <a:lnTo>
                  <a:pt x="3890104" y="0"/>
                </a:lnTo>
                <a:lnTo>
                  <a:pt x="3890104" y="4232795"/>
                </a:lnTo>
                <a:lnTo>
                  <a:pt x="0" y="4232795"/>
                </a:lnTo>
                <a:lnTo>
                  <a:pt x="0" y="0"/>
                </a:lnTo>
                <a:close/>
              </a:path>
            </a:pathLst>
          </a:custGeom>
          <a:blipFill>
            <a:blip r:embed="rId6"/>
            <a:stretch>
              <a:fillRect l="0" t="0" r="0" b="0"/>
            </a:stretch>
          </a:blipFill>
        </p:spPr>
      </p:sp>
      <p:sp>
        <p:nvSpPr>
          <p:cNvPr name="TextBox 12" id="12"/>
          <p:cNvSpPr txBox="true"/>
          <p:nvPr/>
        </p:nvSpPr>
        <p:spPr>
          <a:xfrm rot="0">
            <a:off x="346885" y="1899804"/>
            <a:ext cx="15046907" cy="7938918"/>
          </a:xfrm>
          <a:prstGeom prst="rect">
            <a:avLst/>
          </a:prstGeom>
        </p:spPr>
        <p:txBody>
          <a:bodyPr anchor="t" rtlCol="false" tIns="0" lIns="0" bIns="0" rIns="0">
            <a:spAutoFit/>
          </a:bodyPr>
          <a:lstStyle/>
          <a:p>
            <a:pPr algn="just">
              <a:lnSpc>
                <a:spcPts val="2896"/>
              </a:lnSpc>
            </a:pPr>
          </a:p>
          <a:p>
            <a:pPr algn="just">
              <a:lnSpc>
                <a:spcPts val="2896"/>
              </a:lnSpc>
            </a:pPr>
            <a:r>
              <a:rPr lang="en-US" sz="2069">
                <a:solidFill>
                  <a:srgbClr val="FFFFFF"/>
                </a:solidFill>
                <a:latin typeface="Canva Sans"/>
                <a:ea typeface="Canva Sans"/>
                <a:cs typeface="Canva Sans"/>
                <a:sym typeface="Canva Sans"/>
              </a:rPr>
              <a:t>Priya moves from Karnataka to Andhra Pradesh after marriage and needs to update her surname and address across relevant official records.</a:t>
            </a:r>
          </a:p>
          <a:p>
            <a:pPr algn="just">
              <a:lnSpc>
                <a:spcPts val="2896"/>
              </a:lnSpc>
            </a:pPr>
          </a:p>
          <a:p>
            <a:pPr algn="just">
              <a:lnSpc>
                <a:spcPts val="2896"/>
              </a:lnSpc>
            </a:pPr>
            <a:r>
              <a:rPr lang="en-US" sz="2069">
                <a:solidFill>
                  <a:srgbClr val="FFFFFF"/>
                </a:solidFill>
                <a:latin typeface="Canva Sans"/>
                <a:ea typeface="Canva Sans"/>
                <a:cs typeface="Canva Sans"/>
                <a:sym typeface="Canva Sans"/>
              </a:rPr>
              <a:t>How NAVA Helps:</a:t>
            </a:r>
          </a:p>
          <a:p>
            <a:pPr algn="just">
              <a:lnSpc>
                <a:spcPts val="2896"/>
              </a:lnSpc>
            </a:pPr>
          </a:p>
          <a:p>
            <a:pPr algn="just">
              <a:lnSpc>
                <a:spcPts val="2896"/>
              </a:lnSpc>
            </a:pPr>
            <a:r>
              <a:rPr lang="en-US" sz="2069">
                <a:solidFill>
                  <a:srgbClr val="FFFFFF"/>
                </a:solidFill>
                <a:latin typeface="Canva Sans"/>
                <a:ea typeface="Canva Sans"/>
                <a:cs typeface="Canva Sans"/>
                <a:sym typeface="Canva Sans"/>
              </a:rPr>
              <a:t>UNDERSTANDS: Identifies the two changes—interstate relocation and surname change.</a:t>
            </a:r>
          </a:p>
          <a:p>
            <a:pPr algn="just">
              <a:lnSpc>
                <a:spcPts val="2896"/>
              </a:lnSpc>
            </a:pPr>
          </a:p>
          <a:p>
            <a:pPr algn="just">
              <a:lnSpc>
                <a:spcPts val="2896"/>
              </a:lnSpc>
            </a:pPr>
            <a:r>
              <a:rPr lang="en-US" sz="2069">
                <a:solidFill>
                  <a:srgbClr val="FFFFFF"/>
                </a:solidFill>
                <a:latin typeface="Canva Sans"/>
                <a:ea typeface="Canva Sans"/>
                <a:cs typeface="Canva Sans"/>
                <a:sym typeface="Canva Sans"/>
              </a:rPr>
              <a:t>CLARIFIES: Asks which documents Priya holds, her new address, and which records need updating.</a:t>
            </a:r>
          </a:p>
          <a:p>
            <a:pPr algn="just">
              <a:lnSpc>
                <a:spcPts val="2896"/>
              </a:lnSpc>
            </a:pPr>
          </a:p>
          <a:p>
            <a:pPr algn="just">
              <a:lnSpc>
                <a:spcPts val="2896"/>
              </a:lnSpc>
            </a:pPr>
            <a:r>
              <a:rPr lang="en-US" sz="2069">
                <a:solidFill>
                  <a:srgbClr val="FFFFFF"/>
                </a:solidFill>
                <a:latin typeface="Canva Sans"/>
                <a:ea typeface="Canva Sans"/>
                <a:cs typeface="Canva Sans"/>
                <a:sym typeface="Canva Sans"/>
              </a:rPr>
              <a:t>IDENTIFIES SERVICES: Finds relevant services for updating records, based on verified official requirements.</a:t>
            </a:r>
          </a:p>
          <a:p>
            <a:pPr algn="just">
              <a:lnSpc>
                <a:spcPts val="2896"/>
              </a:lnSpc>
            </a:pPr>
          </a:p>
          <a:p>
            <a:pPr algn="just">
              <a:lnSpc>
                <a:spcPts val="2896"/>
              </a:lnSpc>
            </a:pPr>
            <a:r>
              <a:rPr lang="en-US" sz="2069">
                <a:solidFill>
                  <a:srgbClr val="FFFFFF"/>
                </a:solidFill>
                <a:latin typeface="Canva Sans"/>
                <a:ea typeface="Canva Sans"/>
                <a:cs typeface="Canva Sans"/>
                <a:sym typeface="Canva Sans"/>
              </a:rPr>
              <a:t>MAPS DEPENDENCIES: Determines which updates require supporting documents or must be completed first.</a:t>
            </a:r>
          </a:p>
          <a:p>
            <a:pPr algn="just">
              <a:lnSpc>
                <a:spcPts val="2896"/>
              </a:lnSpc>
            </a:pPr>
          </a:p>
          <a:p>
            <a:pPr algn="just">
              <a:lnSpc>
                <a:spcPts val="2896"/>
              </a:lnSpc>
            </a:pPr>
            <a:r>
              <a:rPr lang="en-US" sz="2069">
                <a:solidFill>
                  <a:srgbClr val="FFFFFF"/>
                </a:solidFill>
                <a:latin typeface="Canva Sans"/>
                <a:ea typeface="Canva Sans"/>
                <a:cs typeface="Canva Sans"/>
                <a:sym typeface="Canva Sans"/>
              </a:rPr>
              <a:t>CREATES A ROADMAP: Organises the applications into a personalised sequence, showing required documents, official links, and dependencies.</a:t>
            </a:r>
          </a:p>
          <a:p>
            <a:pPr algn="just">
              <a:lnSpc>
                <a:spcPts val="2896"/>
              </a:lnSpc>
            </a:pPr>
          </a:p>
          <a:p>
            <a:pPr algn="just">
              <a:lnSpc>
                <a:spcPts val="2896"/>
              </a:lnSpc>
            </a:pPr>
            <a:r>
              <a:rPr lang="en-US" sz="2069">
                <a:solidFill>
                  <a:srgbClr val="FFFFFF"/>
                </a:solidFill>
                <a:latin typeface="Canva Sans"/>
                <a:ea typeface="Canva Sans"/>
                <a:cs typeface="Canva Sans"/>
                <a:sym typeface="Canva Sans"/>
              </a:rPr>
              <a:t>ADAPTS: If Priya receives a new document midway, NAVA reassesses the remaining steps and updates her plan.</a:t>
            </a:r>
          </a:p>
          <a:p>
            <a:pPr algn="just">
              <a:lnSpc>
                <a:spcPts val="2896"/>
              </a:lnSpc>
            </a:pPr>
          </a:p>
          <a:p>
            <a:pPr algn="just">
              <a:lnSpc>
                <a:spcPts val="2896"/>
              </a:lnSpc>
            </a:pPr>
            <a:r>
              <a:rPr lang="en-US" sz="2069">
                <a:solidFill>
                  <a:srgbClr val="FFFFFF"/>
                </a:solidFill>
                <a:latin typeface="Canva Sans"/>
                <a:ea typeface="Canva Sans"/>
                <a:cs typeface="Canva Sans"/>
                <a:sym typeface="Canva Sans"/>
              </a:rPr>
              <a:t>THE OUTCOME:</a:t>
            </a:r>
          </a:p>
          <a:p>
            <a:pPr algn="just">
              <a:lnSpc>
                <a:spcPts val="2896"/>
              </a:lnSpc>
              <a:spcBef>
                <a:spcPct val="0"/>
              </a:spcBef>
            </a:pPr>
            <a:r>
              <a:rPr lang="en-US" sz="2069">
                <a:solidFill>
                  <a:srgbClr val="FFFFFF"/>
                </a:solidFill>
                <a:latin typeface="Canva Sans"/>
                <a:ea typeface="Canva Sans"/>
                <a:cs typeface="Canva Sans"/>
                <a:sym typeface="Canva Sans"/>
              </a:rPr>
              <a:t>One coordinated, verified action plan instead of navigating multiple government departments without knowing what to do first.epartments without knowing what to do first.</a:t>
            </a:r>
          </a:p>
        </p:txBody>
      </p:sp>
      <p:sp>
        <p:nvSpPr>
          <p:cNvPr name="TextBox 13" id="13"/>
          <p:cNvSpPr txBox="true"/>
          <p:nvPr/>
        </p:nvSpPr>
        <p:spPr>
          <a:xfrm rot="0">
            <a:off x="266873" y="319364"/>
            <a:ext cx="8131242" cy="1552533"/>
          </a:xfrm>
          <a:prstGeom prst="rect">
            <a:avLst/>
          </a:prstGeom>
        </p:spPr>
        <p:txBody>
          <a:bodyPr anchor="t" rtlCol="false" tIns="0" lIns="0" bIns="0" rIns="0">
            <a:spAutoFit/>
          </a:bodyPr>
          <a:lstStyle/>
          <a:p>
            <a:pPr algn="ctr">
              <a:lnSpc>
                <a:spcPts val="12755"/>
              </a:lnSpc>
              <a:spcBef>
                <a:spcPct val="0"/>
              </a:spcBef>
            </a:pPr>
            <a:r>
              <a:rPr lang="en-US" b="true" sz="9111">
                <a:solidFill>
                  <a:srgbClr val="FFFFFF"/>
                </a:solidFill>
                <a:latin typeface="Canva Sans Bold"/>
                <a:ea typeface="Canva Sans Bold"/>
                <a:cs typeface="Canva Sans Bold"/>
                <a:sym typeface="Canva Sans Bold"/>
              </a:rPr>
              <a:t>The Situation: </a:t>
            </a:r>
          </a:p>
        </p:txBody>
      </p:sp>
      <p:pic>
        <p:nvPicPr>
          <p:cNvPr name="Picture 14" id="14"/>
          <p:cNvPicPr>
            <a:picLocks noChangeAspect="true"/>
          </p:cNvPicPr>
          <p:nvPr/>
        </p:nvPicPr>
        <p:blipFill>
          <a:blip r:embed="rId7"/>
          <a:stretch>
            <a:fillRect/>
          </a:stretch>
        </p:blipFill>
        <p:spPr>
          <a:xfrm rot="0">
            <a:off x="16614785" y="7145328"/>
            <a:ext cx="2131481" cy="5499191"/>
          </a:xfrm>
          <a:prstGeom prst="rect">
            <a:avLst/>
          </a:prstGeom>
        </p:spPr>
      </p:pic>
    </p:spTree>
  </p:cSld>
  <p:clrMapOvr>
    <a:masterClrMapping/>
  </p:clrMapOvr>
  <p:transition spd="fast">
    <p:cover dir="d"/>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6463940" y="-5266608"/>
            <a:ext cx="12750085" cy="8229600"/>
          </a:xfrm>
          <a:custGeom>
            <a:avLst/>
            <a:gdLst/>
            <a:ahLst/>
            <a:cxnLst/>
            <a:rect r="r" b="b" t="t" l="l"/>
            <a:pathLst>
              <a:path h="8229600" w="12750085">
                <a:moveTo>
                  <a:pt x="0" y="0"/>
                </a:moveTo>
                <a:lnTo>
                  <a:pt x="12750085" y="0"/>
                </a:lnTo>
                <a:lnTo>
                  <a:pt x="12750085"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1891052" y="5759768"/>
            <a:ext cx="11314356" cy="11088069"/>
          </a:xfrm>
          <a:custGeom>
            <a:avLst/>
            <a:gdLst/>
            <a:ahLst/>
            <a:cxnLst/>
            <a:rect r="r" b="b" t="t" l="l"/>
            <a:pathLst>
              <a:path h="11088069" w="11314356">
                <a:moveTo>
                  <a:pt x="0" y="0"/>
                </a:moveTo>
                <a:lnTo>
                  <a:pt x="11314356" y="0"/>
                </a:lnTo>
                <a:lnTo>
                  <a:pt x="11314356" y="11088068"/>
                </a:lnTo>
                <a:lnTo>
                  <a:pt x="0" y="110880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165920" y="3029556"/>
            <a:ext cx="7956160" cy="3541545"/>
          </a:xfrm>
          <a:prstGeom prst="rect">
            <a:avLst/>
          </a:prstGeom>
        </p:spPr>
        <p:txBody>
          <a:bodyPr anchor="t" rtlCol="false" tIns="0" lIns="0" bIns="0" rIns="0">
            <a:spAutoFit/>
          </a:bodyPr>
          <a:lstStyle/>
          <a:p>
            <a:pPr algn="ctr">
              <a:lnSpc>
                <a:spcPts val="13567"/>
              </a:lnSpc>
            </a:pPr>
            <a:r>
              <a:rPr lang="en-US" b="true" sz="14433" spc="-1024">
                <a:solidFill>
                  <a:srgbClr val="FFFFFF"/>
                </a:solidFill>
                <a:latin typeface="Chakra Petch Bold"/>
                <a:ea typeface="Chakra Petch Bold"/>
                <a:cs typeface="Chakra Petch Bold"/>
                <a:sym typeface="Chakra Petch Bold"/>
              </a:rPr>
              <a:t>FUTURE IMPACT</a:t>
            </a:r>
          </a:p>
        </p:txBody>
      </p:sp>
      <p:sp>
        <p:nvSpPr>
          <p:cNvPr name="TextBox 5" id="5"/>
          <p:cNvSpPr txBox="true"/>
          <p:nvPr/>
        </p:nvSpPr>
        <p:spPr>
          <a:xfrm rot="0">
            <a:off x="1028700" y="6571101"/>
            <a:ext cx="16738499" cy="1532001"/>
          </a:xfrm>
          <a:prstGeom prst="rect">
            <a:avLst/>
          </a:prstGeom>
        </p:spPr>
        <p:txBody>
          <a:bodyPr anchor="t" rtlCol="false" tIns="0" lIns="0" bIns="0" rIns="0">
            <a:spAutoFit/>
          </a:bodyPr>
          <a:lstStyle/>
          <a:p>
            <a:pPr algn="ctr">
              <a:lnSpc>
                <a:spcPts val="2457"/>
              </a:lnSpc>
            </a:pPr>
            <a:r>
              <a:rPr lang="en-US" sz="2100" spc="-52">
                <a:solidFill>
                  <a:srgbClr val="FFFFFF"/>
                </a:solidFill>
                <a:latin typeface="Open Sauce"/>
                <a:ea typeface="Open Sauce"/>
                <a:cs typeface="Open Sauce"/>
                <a:sym typeface="Open Sauce"/>
              </a:rPr>
              <a:t>NAVA aims to transform government service navigation by simplifying complex procedures through verified information, p</a:t>
            </a:r>
            <a:r>
              <a:rPr lang="en-US" sz="2100" spc="-52">
                <a:solidFill>
                  <a:srgbClr val="FFFFFF"/>
                </a:solidFill>
                <a:latin typeface="Open Sauce"/>
                <a:ea typeface="Open Sauce"/>
                <a:cs typeface="Open Sauce"/>
                <a:sym typeface="Open Sauce"/>
              </a:rPr>
              <a:t>ersonalised action plans, and intelligent dependency mapping. It will help citizens reduce confusion, avoid unnecessary delays, and make informed decisions while adapting to changing circumstances. By connecting citizens with the right services at the right time, NAVA envisions a more accessible, transparent, and citizen-centric government service experience.</a:t>
            </a:r>
          </a:p>
          <a:p>
            <a:pPr algn="ctr">
              <a:lnSpc>
                <a:spcPts val="2457"/>
              </a:lnSpc>
            </a:pPr>
          </a:p>
        </p:txBody>
      </p:sp>
      <p:sp>
        <p:nvSpPr>
          <p:cNvPr name="Freeform 6" id="6"/>
          <p:cNvSpPr/>
          <p:nvPr/>
        </p:nvSpPr>
        <p:spPr>
          <a:xfrm flipH="true" flipV="true" rot="0">
            <a:off x="-2369134" y="6938847"/>
            <a:ext cx="12750085" cy="8229600"/>
          </a:xfrm>
          <a:custGeom>
            <a:avLst/>
            <a:gdLst/>
            <a:ahLst/>
            <a:cxnLst/>
            <a:rect r="r" b="b" t="t" l="l"/>
            <a:pathLst>
              <a:path h="8229600" w="12750085">
                <a:moveTo>
                  <a:pt x="12750084" y="8229600"/>
                </a:moveTo>
                <a:lnTo>
                  <a:pt x="0" y="8229600"/>
                </a:lnTo>
                <a:lnTo>
                  <a:pt x="0" y="0"/>
                </a:lnTo>
                <a:lnTo>
                  <a:pt x="12750084" y="0"/>
                </a:lnTo>
                <a:lnTo>
                  <a:pt x="12750084" y="8229600"/>
                </a:lnTo>
                <a:close/>
              </a:path>
            </a:pathLst>
          </a:custGeom>
          <a:blipFill>
            <a:blip r:embed="rId2"/>
            <a:stretch>
              <a:fillRect l="0" t="0" r="0" b="0"/>
            </a:stretch>
          </a:blipFill>
        </p:spPr>
      </p:sp>
      <p:grpSp>
        <p:nvGrpSpPr>
          <p:cNvPr name="Group 7" id="7"/>
          <p:cNvGrpSpPr/>
          <p:nvPr/>
        </p:nvGrpSpPr>
        <p:grpSpPr>
          <a:xfrm rot="0">
            <a:off x="1028700" y="8410925"/>
            <a:ext cx="2977208" cy="427665"/>
            <a:chOff x="0" y="0"/>
            <a:chExt cx="784150" cy="112690"/>
          </a:xfrm>
        </p:grpSpPr>
        <p:sp>
          <p:nvSpPr>
            <p:cNvPr name="Freeform 8" id="8"/>
            <p:cNvSpPr/>
            <p:nvPr/>
          </p:nvSpPr>
          <p:spPr>
            <a:xfrm flipH="false" flipV="false" rot="0">
              <a:off x="0" y="0"/>
              <a:ext cx="784150" cy="112690"/>
            </a:xfrm>
            <a:custGeom>
              <a:avLst/>
              <a:gdLst/>
              <a:ahLst/>
              <a:cxnLst/>
              <a:rect r="r" b="b" t="t" l="l"/>
              <a:pathLst>
                <a:path h="112690" w="784150">
                  <a:moveTo>
                    <a:pt x="784150" y="0"/>
                  </a:moveTo>
                  <a:lnTo>
                    <a:pt x="784150" y="112690"/>
                  </a:lnTo>
                  <a:lnTo>
                    <a:pt x="0" y="11269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9" id="9"/>
            <p:cNvSpPr txBox="true"/>
            <p:nvPr/>
          </p:nvSpPr>
          <p:spPr>
            <a:xfrm>
              <a:off x="0" y="-38100"/>
              <a:ext cx="784150" cy="15079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10800000">
            <a:off x="13373372" y="8410925"/>
            <a:ext cx="3885928" cy="427665"/>
            <a:chOff x="0" y="0"/>
            <a:chExt cx="1023493" cy="112690"/>
          </a:xfrm>
        </p:grpSpPr>
        <p:sp>
          <p:nvSpPr>
            <p:cNvPr name="Freeform 11" id="11"/>
            <p:cNvSpPr/>
            <p:nvPr/>
          </p:nvSpPr>
          <p:spPr>
            <a:xfrm flipH="false" flipV="false" rot="0">
              <a:off x="0" y="0"/>
              <a:ext cx="1023493" cy="112690"/>
            </a:xfrm>
            <a:custGeom>
              <a:avLst/>
              <a:gdLst/>
              <a:ahLst/>
              <a:cxnLst/>
              <a:rect r="r" b="b" t="t" l="l"/>
              <a:pathLst>
                <a:path h="112690" w="1023493">
                  <a:moveTo>
                    <a:pt x="1023493" y="0"/>
                  </a:moveTo>
                  <a:lnTo>
                    <a:pt x="1023493" y="112690"/>
                  </a:lnTo>
                  <a:lnTo>
                    <a:pt x="0" y="112690"/>
                  </a:lnTo>
                  <a:lnTo>
                    <a:pt x="0" y="0"/>
                  </a:lnTo>
                  <a:close/>
                </a:path>
              </a:pathLst>
            </a:custGeom>
            <a:gradFill rotWithShape="true">
              <a:gsLst>
                <a:gs pos="0">
                  <a:srgbClr val="1800AD">
                    <a:alpha val="100000"/>
                  </a:srgbClr>
                </a:gs>
                <a:gs pos="100000">
                  <a:srgbClr val="000000">
                    <a:alpha val="0"/>
                  </a:srgbClr>
                </a:gs>
              </a:gsLst>
              <a:lin ang="0"/>
            </a:gradFill>
            <a:ln cap="sq">
              <a:noFill/>
              <a:prstDash val="solid"/>
              <a:miter/>
            </a:ln>
          </p:spPr>
        </p:sp>
        <p:sp>
          <p:nvSpPr>
            <p:cNvPr name="TextBox 12" id="12"/>
            <p:cNvSpPr txBox="true"/>
            <p:nvPr/>
          </p:nvSpPr>
          <p:spPr>
            <a:xfrm>
              <a:off x="0" y="-38100"/>
              <a:ext cx="1023493" cy="15079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7308448" y="-3688178"/>
            <a:ext cx="11314356" cy="11088069"/>
          </a:xfrm>
          <a:custGeom>
            <a:avLst/>
            <a:gdLst/>
            <a:ahLst/>
            <a:cxnLst/>
            <a:rect r="r" b="b" t="t" l="l"/>
            <a:pathLst>
              <a:path h="11088069" w="11314356">
                <a:moveTo>
                  <a:pt x="0" y="0"/>
                </a:moveTo>
                <a:lnTo>
                  <a:pt x="11314356" y="0"/>
                </a:lnTo>
                <a:lnTo>
                  <a:pt x="11314356" y="11088068"/>
                </a:lnTo>
                <a:lnTo>
                  <a:pt x="0" y="110880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11137">
                <a:alpha val="100000"/>
              </a:srgbClr>
            </a:gs>
          </a:gsLst>
          <a:path path="circle">
            <a:fillToRect l="50000" r="50000" t="50000" b="50000"/>
          </a:path>
        </a:gra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2317" t="5263" r="2317" b="0"/>
          <a:stretch>
            <a:fillRect/>
          </a:stretch>
        </p:blipFill>
        <p:spPr>
          <a:xfrm flipH="false" flipV="false" rot="0">
            <a:off x="0" y="-68580"/>
            <a:ext cx="18288000" cy="10355580"/>
          </a:xfrm>
          <a:prstGeom prst="rect">
            <a:avLst/>
          </a:prstGeom>
        </p:spPr>
      </p:pic>
    </p:spTree>
  </p:cSld>
  <p:clrMapOvr>
    <a:masterClrMapping/>
  </p:clrMapOvr>
  <p:transition spd="slow">
    <p:wipe dir="l"/>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DAHY5VR0nLs</dc:identifier>
  <dcterms:modified xsi:type="dcterms:W3CDTF">2011-08-01T06:04:30Z</dcterms:modified>
  <cp:revision>1</cp:revision>
  <dc:title>NAVA</dc:title>
</cp:coreProperties>
</file>